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etrona Bold" charset="1" panose="00000000000000000000"/>
      <p:regular r:id="rId16"/>
    </p:embeddedFont>
    <p:embeddedFont>
      <p:font typeface="Inter Bold" charset="1" panose="02000503000000020004"/>
      <p:regular r:id="rId17"/>
    </p:embeddedFont>
    <p:embeddedFont>
      <p:font typeface="Inter" charset="1" panose="02000503000000020004"/>
      <p:regular r:id="rId18"/>
    </p:embeddedFont>
    <p:embeddedFont>
      <p:font typeface="Arimo" charset="1" panose="020B0604020202020204"/>
      <p:regular r:id="rId19"/>
    </p:embeddedFont>
    <p:embeddedFont>
      <p:font typeface="Inter Italics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media/image21.png" Type="http://schemas.openxmlformats.org/officeDocument/2006/relationships/image"/><Relationship Id="rId3" Target="../media/image18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165156"/>
            <a:ext cx="9445523" cy="296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Plant Recognition Using Deep Learning and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466312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Team Members: Suraj Singh, Sparsh Kumar, Shivam Singh, Riya Goel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6692503"/>
            <a:ext cx="9445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Department of Computer Science and Engineering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08059" y="7550791"/>
            <a:ext cx="3329883" cy="532800"/>
            <a:chOff x="0" y="0"/>
            <a:chExt cx="4439844" cy="710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793" cy="710438"/>
            </a:xfrm>
            <a:custGeom>
              <a:avLst/>
              <a:gdLst/>
              <a:ahLst/>
              <a:cxnLst/>
              <a:rect r="r" b="b" t="t" l="l"/>
              <a:pathLst>
                <a:path h="710438" w="4439793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312793" y="0"/>
                  </a:lnTo>
                  <a:cubicBezTo>
                    <a:pt x="4382897" y="0"/>
                    <a:pt x="4439793" y="56896"/>
                    <a:pt x="4439793" y="127000"/>
                  </a:cubicBezTo>
                  <a:lnTo>
                    <a:pt x="4439793" y="583438"/>
                  </a:lnTo>
                  <a:cubicBezTo>
                    <a:pt x="4439793" y="653542"/>
                    <a:pt x="4382897" y="710438"/>
                    <a:pt x="4312793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078166" y="7559573"/>
            <a:ext cx="2989659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 YEAR PROJECT VIVA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1684" y="622992"/>
            <a:ext cx="9786642" cy="166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999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Introduction &amp; 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1684" y="2751687"/>
            <a:ext cx="4606976" cy="82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Why Does Plant Identification Matter?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1684" y="3714902"/>
            <a:ext cx="4606976" cy="211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There are over 400,000 known plant species globally. Accurate identification is critical for agriculture, medicine, conservation, and ecological research — yet traditional taxonomy is slow, costly, and demands rare expert knowledge.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1684" y="6050756"/>
            <a:ext cx="4606976" cy="1575197"/>
            <a:chOff x="0" y="0"/>
            <a:chExt cx="6142634" cy="2100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42609" cy="2100199"/>
            </a:xfrm>
            <a:custGeom>
              <a:avLst/>
              <a:gdLst/>
              <a:ahLst/>
              <a:cxnLst/>
              <a:rect r="r" b="b" t="t" l="l"/>
              <a:pathLst>
                <a:path h="2100199" w="6142609">
                  <a:moveTo>
                    <a:pt x="0" y="131445"/>
                  </a:moveTo>
                  <a:cubicBezTo>
                    <a:pt x="0" y="58928"/>
                    <a:pt x="58928" y="0"/>
                    <a:pt x="131445" y="0"/>
                  </a:cubicBezTo>
                  <a:lnTo>
                    <a:pt x="6011164" y="0"/>
                  </a:lnTo>
                  <a:cubicBezTo>
                    <a:pt x="6083808" y="0"/>
                    <a:pt x="6142609" y="58928"/>
                    <a:pt x="6142609" y="131445"/>
                  </a:cubicBezTo>
                  <a:lnTo>
                    <a:pt x="6142609" y="1968754"/>
                  </a:lnTo>
                  <a:cubicBezTo>
                    <a:pt x="6142609" y="2041398"/>
                    <a:pt x="6083681" y="2100199"/>
                    <a:pt x="6011164" y="2100199"/>
                  </a:cubicBezTo>
                  <a:lnTo>
                    <a:pt x="131445" y="2100199"/>
                  </a:lnTo>
                  <a:cubicBezTo>
                    <a:pt x="58928" y="2100199"/>
                    <a:pt x="0" y="2041398"/>
                    <a:pt x="0" y="1968754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56380" y="6395885"/>
            <a:ext cx="293494" cy="234706"/>
            <a:chOff x="0" y="0"/>
            <a:chExt cx="391325" cy="31294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91287" cy="312928"/>
            </a:xfrm>
            <a:custGeom>
              <a:avLst/>
              <a:gdLst/>
              <a:ahLst/>
              <a:cxnLst/>
              <a:rect r="r" b="b" t="t" l="l"/>
              <a:pathLst>
                <a:path h="312928" w="391287">
                  <a:moveTo>
                    <a:pt x="0" y="0"/>
                  </a:moveTo>
                  <a:lnTo>
                    <a:pt x="391287" y="0"/>
                  </a:lnTo>
                  <a:lnTo>
                    <a:pt x="391287" y="312928"/>
                  </a:lnTo>
                  <a:lnTo>
                    <a:pt x="0" y="312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22" r="-9" b="-42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84569" y="6246609"/>
            <a:ext cx="3609384" cy="108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Manual botanical classification is error-prone and inaccessible at scale.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10866" y="2751687"/>
            <a:ext cx="3228527" cy="4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Our Solution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098829" y="3400054"/>
            <a:ext cx="352130" cy="352130"/>
          </a:xfrm>
          <a:custGeom>
            <a:avLst/>
            <a:gdLst/>
            <a:ahLst/>
            <a:cxnLst/>
            <a:rect r="r" b="b" t="t" l="l"/>
            <a:pathLst>
              <a:path h="352130" w="352130">
                <a:moveTo>
                  <a:pt x="0" y="0"/>
                </a:moveTo>
                <a:lnTo>
                  <a:pt x="352130" y="0"/>
                </a:lnTo>
                <a:lnTo>
                  <a:pt x="352130" y="352129"/>
                </a:lnTo>
                <a:lnTo>
                  <a:pt x="0" y="3521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459" t="0" r="-9459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73761" y="3373784"/>
            <a:ext cx="3495827" cy="4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Traditional Limitations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73761" y="3933530"/>
            <a:ext cx="3844080" cy="143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Morphological taxonomy is time-intensive and requires trained specialists unavailable in field conditions.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6098829" y="5760168"/>
            <a:ext cx="352130" cy="352130"/>
          </a:xfrm>
          <a:custGeom>
            <a:avLst/>
            <a:gdLst/>
            <a:ahLst/>
            <a:cxnLst/>
            <a:rect r="r" b="b" t="t" l="l"/>
            <a:pathLst>
              <a:path h="352130" w="352130">
                <a:moveTo>
                  <a:pt x="0" y="0"/>
                </a:moveTo>
                <a:lnTo>
                  <a:pt x="352130" y="0"/>
                </a:lnTo>
                <a:lnTo>
                  <a:pt x="352130" y="352129"/>
                </a:lnTo>
                <a:lnTo>
                  <a:pt x="0" y="3521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459" t="0" r="-9459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773761" y="5733898"/>
            <a:ext cx="3228527" cy="4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AI-Based Recognition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73761" y="6293644"/>
            <a:ext cx="3844080" cy="108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Deep learning enables fast, accurate, scalable identification from leaf images alone.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6098829" y="7776943"/>
            <a:ext cx="352130" cy="352130"/>
          </a:xfrm>
          <a:custGeom>
            <a:avLst/>
            <a:gdLst/>
            <a:ahLst/>
            <a:cxnLst/>
            <a:rect r="r" b="b" t="t" l="l"/>
            <a:pathLst>
              <a:path h="352130" w="352130">
                <a:moveTo>
                  <a:pt x="0" y="0"/>
                </a:moveTo>
                <a:lnTo>
                  <a:pt x="352130" y="0"/>
                </a:lnTo>
                <a:lnTo>
                  <a:pt x="352130" y="352130"/>
                </a:lnTo>
                <a:lnTo>
                  <a:pt x="0" y="352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459" t="0" r="-9459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773761" y="7750673"/>
            <a:ext cx="3228527" cy="42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This Project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73761" y="8310410"/>
            <a:ext cx="3844080" cy="108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ResNet-18 + Gemini AI for classification and rich botanical description generation.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3739" y="686400"/>
            <a:ext cx="8218294" cy="90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54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Objectives &amp; 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3739" y="2135534"/>
            <a:ext cx="3472158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Core Objectives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69452" y="3206058"/>
            <a:ext cx="3892153" cy="2797378"/>
            <a:chOff x="0" y="0"/>
            <a:chExt cx="5189538" cy="3729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5151374" cy="3691763"/>
            </a:xfrm>
            <a:custGeom>
              <a:avLst/>
              <a:gdLst/>
              <a:ahLst/>
              <a:cxnLst/>
              <a:rect r="r" b="b" t="t" l="l"/>
              <a:pathLst>
                <a:path h="3691763" w="5151374">
                  <a:moveTo>
                    <a:pt x="0" y="182880"/>
                  </a:moveTo>
                  <a:cubicBezTo>
                    <a:pt x="0" y="81915"/>
                    <a:pt x="82169" y="0"/>
                    <a:pt x="183388" y="0"/>
                  </a:cubicBezTo>
                  <a:lnTo>
                    <a:pt x="4967986" y="0"/>
                  </a:lnTo>
                  <a:cubicBezTo>
                    <a:pt x="5069332" y="0"/>
                    <a:pt x="5151374" y="81915"/>
                    <a:pt x="5151374" y="182880"/>
                  </a:cubicBezTo>
                  <a:lnTo>
                    <a:pt x="5151374" y="3508883"/>
                  </a:lnTo>
                  <a:cubicBezTo>
                    <a:pt x="5151374" y="3609848"/>
                    <a:pt x="5069205" y="3691763"/>
                    <a:pt x="4967986" y="3691763"/>
                  </a:cubicBezTo>
                  <a:lnTo>
                    <a:pt x="183388" y="3691763"/>
                  </a:lnTo>
                  <a:cubicBezTo>
                    <a:pt x="82042" y="3691763"/>
                    <a:pt x="0" y="3609848"/>
                    <a:pt x="0" y="3508883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89474" cy="3729863"/>
            </a:xfrm>
            <a:custGeom>
              <a:avLst/>
              <a:gdLst/>
              <a:ahLst/>
              <a:cxnLst/>
              <a:rect r="r" b="b" t="t" l="l"/>
              <a:pathLst>
                <a:path h="3729863" w="5189474">
                  <a:moveTo>
                    <a:pt x="0" y="201930"/>
                  </a:moveTo>
                  <a:cubicBezTo>
                    <a:pt x="0" y="90297"/>
                    <a:pt x="90678" y="0"/>
                    <a:pt x="202438" y="0"/>
                  </a:cubicBezTo>
                  <a:lnTo>
                    <a:pt x="4987036" y="0"/>
                  </a:lnTo>
                  <a:lnTo>
                    <a:pt x="4987036" y="19050"/>
                  </a:lnTo>
                  <a:lnTo>
                    <a:pt x="4987036" y="0"/>
                  </a:lnTo>
                  <a:cubicBezTo>
                    <a:pt x="5098796" y="0"/>
                    <a:pt x="5189474" y="90297"/>
                    <a:pt x="5189474" y="201930"/>
                  </a:cubicBezTo>
                  <a:lnTo>
                    <a:pt x="5170424" y="201930"/>
                  </a:lnTo>
                  <a:lnTo>
                    <a:pt x="5189474" y="201930"/>
                  </a:lnTo>
                  <a:lnTo>
                    <a:pt x="5189474" y="3527933"/>
                  </a:lnTo>
                  <a:lnTo>
                    <a:pt x="5170424" y="3527933"/>
                  </a:lnTo>
                  <a:lnTo>
                    <a:pt x="5189474" y="3527933"/>
                  </a:lnTo>
                  <a:cubicBezTo>
                    <a:pt x="5189474" y="3639566"/>
                    <a:pt x="5098796" y="3729863"/>
                    <a:pt x="4987036" y="3729863"/>
                  </a:cubicBezTo>
                  <a:lnTo>
                    <a:pt x="4987036" y="3710813"/>
                  </a:lnTo>
                  <a:lnTo>
                    <a:pt x="4987036" y="3729863"/>
                  </a:lnTo>
                  <a:lnTo>
                    <a:pt x="202438" y="3729863"/>
                  </a:lnTo>
                  <a:lnTo>
                    <a:pt x="202438" y="3710813"/>
                  </a:lnTo>
                  <a:lnTo>
                    <a:pt x="202438" y="3729863"/>
                  </a:lnTo>
                  <a:cubicBezTo>
                    <a:pt x="90678" y="3729863"/>
                    <a:pt x="0" y="3639566"/>
                    <a:pt x="0" y="352793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527933"/>
                  </a:lnTo>
                  <a:lnTo>
                    <a:pt x="19050" y="3527933"/>
                  </a:lnTo>
                  <a:lnTo>
                    <a:pt x="38100" y="3527933"/>
                  </a:lnTo>
                  <a:cubicBezTo>
                    <a:pt x="38100" y="3618357"/>
                    <a:pt x="111633" y="3691763"/>
                    <a:pt x="202438" y="3691763"/>
                  </a:cubicBezTo>
                  <a:lnTo>
                    <a:pt x="4987036" y="3691763"/>
                  </a:lnTo>
                  <a:cubicBezTo>
                    <a:pt x="5077841" y="3691763"/>
                    <a:pt x="5151374" y="3618357"/>
                    <a:pt x="5151374" y="3527933"/>
                  </a:cubicBezTo>
                  <a:lnTo>
                    <a:pt x="5151374" y="201930"/>
                  </a:lnTo>
                  <a:cubicBezTo>
                    <a:pt x="5151374" y="111506"/>
                    <a:pt x="5077841" y="38100"/>
                    <a:pt x="4987036" y="38100"/>
                  </a:cubicBezTo>
                  <a:lnTo>
                    <a:pt x="202438" y="38100"/>
                  </a:lnTo>
                  <a:lnTo>
                    <a:pt x="202438" y="19050"/>
                  </a:lnTo>
                  <a:lnTo>
                    <a:pt x="202438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3739" y="3191770"/>
            <a:ext cx="3863578" cy="114300"/>
            <a:chOff x="0" y="0"/>
            <a:chExt cx="5151438" cy="15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1374" cy="152400"/>
            </a:xfrm>
            <a:custGeom>
              <a:avLst/>
              <a:gdLst/>
              <a:ahLst/>
              <a:cxnLst/>
              <a:rect r="r" b="b" t="t" l="l"/>
              <a:pathLst>
                <a:path h="152400" w="515137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5075174" y="0"/>
                  </a:lnTo>
                  <a:cubicBezTo>
                    <a:pt x="5117211" y="0"/>
                    <a:pt x="5151374" y="34163"/>
                    <a:pt x="5151374" y="76200"/>
                  </a:cubicBezTo>
                  <a:cubicBezTo>
                    <a:pt x="5151374" y="118237"/>
                    <a:pt x="5117211" y="152400"/>
                    <a:pt x="507517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436762" y="2841574"/>
            <a:ext cx="757533" cy="757533"/>
            <a:chOff x="0" y="0"/>
            <a:chExt cx="1010044" cy="101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505079"/>
                  </a:moveTo>
                  <a:cubicBezTo>
                    <a:pt x="0" y="226060"/>
                    <a:pt x="226060" y="0"/>
                    <a:pt x="505079" y="0"/>
                  </a:cubicBezTo>
                  <a:cubicBezTo>
                    <a:pt x="784098" y="0"/>
                    <a:pt x="1010031" y="226060"/>
                    <a:pt x="1010031" y="505079"/>
                  </a:cubicBezTo>
                  <a:cubicBezTo>
                    <a:pt x="1010031" y="784098"/>
                    <a:pt x="783971" y="1010031"/>
                    <a:pt x="505079" y="1010031"/>
                  </a:cubicBezTo>
                  <a:cubicBezTo>
                    <a:pt x="226187" y="1010031"/>
                    <a:pt x="0" y="783971"/>
                    <a:pt x="0" y="505079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64028" y="3030884"/>
            <a:ext cx="303009" cy="378771"/>
            <a:chOff x="0" y="0"/>
            <a:chExt cx="404012" cy="5050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4019" cy="505024"/>
            </a:xfrm>
            <a:custGeom>
              <a:avLst/>
              <a:gdLst/>
              <a:ahLst/>
              <a:cxnLst/>
              <a:rect r="r" b="b" t="t" l="l"/>
              <a:pathLst>
                <a:path h="505024" w="404019">
                  <a:moveTo>
                    <a:pt x="0" y="0"/>
                  </a:moveTo>
                  <a:lnTo>
                    <a:pt x="404019" y="0"/>
                  </a:lnTo>
                  <a:lnTo>
                    <a:pt x="404019" y="505024"/>
                  </a:lnTo>
                  <a:lnTo>
                    <a:pt x="0" y="505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81" t="0" r="-11038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04012" cy="514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64727" y="3832469"/>
            <a:ext cx="3301603" cy="88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Leaf-Based Identification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4727" y="4868170"/>
            <a:ext cx="3301603" cy="83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Classify plant species from a single leaf image upload.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957905" y="3206058"/>
            <a:ext cx="3892306" cy="2797378"/>
            <a:chOff x="0" y="0"/>
            <a:chExt cx="5189741" cy="37298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5151628" cy="3691763"/>
            </a:xfrm>
            <a:custGeom>
              <a:avLst/>
              <a:gdLst/>
              <a:ahLst/>
              <a:cxnLst/>
              <a:rect r="r" b="b" t="t" l="l"/>
              <a:pathLst>
                <a:path h="3691763" w="5151628">
                  <a:moveTo>
                    <a:pt x="0" y="182880"/>
                  </a:moveTo>
                  <a:cubicBezTo>
                    <a:pt x="0" y="81915"/>
                    <a:pt x="82169" y="0"/>
                    <a:pt x="183388" y="0"/>
                  </a:cubicBezTo>
                  <a:lnTo>
                    <a:pt x="4968240" y="0"/>
                  </a:lnTo>
                  <a:cubicBezTo>
                    <a:pt x="5069586" y="0"/>
                    <a:pt x="5151628" y="81915"/>
                    <a:pt x="5151628" y="182880"/>
                  </a:cubicBezTo>
                  <a:lnTo>
                    <a:pt x="5151628" y="3508883"/>
                  </a:lnTo>
                  <a:cubicBezTo>
                    <a:pt x="5151628" y="3609848"/>
                    <a:pt x="5069459" y="3691763"/>
                    <a:pt x="4968240" y="3691763"/>
                  </a:cubicBezTo>
                  <a:lnTo>
                    <a:pt x="183388" y="3691763"/>
                  </a:lnTo>
                  <a:cubicBezTo>
                    <a:pt x="82042" y="3691763"/>
                    <a:pt x="0" y="3609848"/>
                    <a:pt x="0" y="3508883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89728" cy="3729863"/>
            </a:xfrm>
            <a:custGeom>
              <a:avLst/>
              <a:gdLst/>
              <a:ahLst/>
              <a:cxnLst/>
              <a:rect r="r" b="b" t="t" l="l"/>
              <a:pathLst>
                <a:path h="3729863" w="5189728">
                  <a:moveTo>
                    <a:pt x="0" y="201930"/>
                  </a:moveTo>
                  <a:cubicBezTo>
                    <a:pt x="0" y="90297"/>
                    <a:pt x="90678" y="0"/>
                    <a:pt x="202438" y="0"/>
                  </a:cubicBezTo>
                  <a:lnTo>
                    <a:pt x="4987290" y="0"/>
                  </a:lnTo>
                  <a:lnTo>
                    <a:pt x="4987290" y="19050"/>
                  </a:lnTo>
                  <a:lnTo>
                    <a:pt x="4987290" y="0"/>
                  </a:lnTo>
                  <a:cubicBezTo>
                    <a:pt x="5099050" y="0"/>
                    <a:pt x="5189728" y="90297"/>
                    <a:pt x="5189728" y="201930"/>
                  </a:cubicBezTo>
                  <a:lnTo>
                    <a:pt x="5170678" y="201930"/>
                  </a:lnTo>
                  <a:lnTo>
                    <a:pt x="5189728" y="201930"/>
                  </a:lnTo>
                  <a:lnTo>
                    <a:pt x="5189728" y="3527933"/>
                  </a:lnTo>
                  <a:lnTo>
                    <a:pt x="5170678" y="3527933"/>
                  </a:lnTo>
                  <a:lnTo>
                    <a:pt x="5189728" y="3527933"/>
                  </a:lnTo>
                  <a:cubicBezTo>
                    <a:pt x="5189728" y="3639566"/>
                    <a:pt x="5099050" y="3729863"/>
                    <a:pt x="4987290" y="3729863"/>
                  </a:cubicBezTo>
                  <a:lnTo>
                    <a:pt x="4987290" y="3710813"/>
                  </a:lnTo>
                  <a:lnTo>
                    <a:pt x="4987290" y="3729863"/>
                  </a:lnTo>
                  <a:lnTo>
                    <a:pt x="202438" y="3729863"/>
                  </a:lnTo>
                  <a:lnTo>
                    <a:pt x="202438" y="3710813"/>
                  </a:lnTo>
                  <a:lnTo>
                    <a:pt x="202438" y="3729863"/>
                  </a:lnTo>
                  <a:cubicBezTo>
                    <a:pt x="90678" y="3729863"/>
                    <a:pt x="0" y="3639566"/>
                    <a:pt x="0" y="352793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527933"/>
                  </a:lnTo>
                  <a:lnTo>
                    <a:pt x="19050" y="3527933"/>
                  </a:lnTo>
                  <a:lnTo>
                    <a:pt x="38100" y="3527933"/>
                  </a:lnTo>
                  <a:cubicBezTo>
                    <a:pt x="38100" y="3618357"/>
                    <a:pt x="111633" y="3691763"/>
                    <a:pt x="202438" y="3691763"/>
                  </a:cubicBezTo>
                  <a:lnTo>
                    <a:pt x="4987290" y="3691763"/>
                  </a:lnTo>
                  <a:cubicBezTo>
                    <a:pt x="5078095" y="3691763"/>
                    <a:pt x="5151628" y="3618357"/>
                    <a:pt x="5151628" y="3527933"/>
                  </a:cubicBezTo>
                  <a:lnTo>
                    <a:pt x="5151628" y="201930"/>
                  </a:lnTo>
                  <a:cubicBezTo>
                    <a:pt x="5151628" y="111506"/>
                    <a:pt x="5078095" y="38100"/>
                    <a:pt x="4987290" y="38100"/>
                  </a:cubicBezTo>
                  <a:lnTo>
                    <a:pt x="202438" y="38100"/>
                  </a:lnTo>
                  <a:lnTo>
                    <a:pt x="202438" y="19050"/>
                  </a:lnTo>
                  <a:lnTo>
                    <a:pt x="202438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72202" y="3191770"/>
            <a:ext cx="3863731" cy="114300"/>
            <a:chOff x="0" y="0"/>
            <a:chExt cx="5151641" cy="152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51628" cy="152400"/>
            </a:xfrm>
            <a:custGeom>
              <a:avLst/>
              <a:gdLst/>
              <a:ahLst/>
              <a:cxnLst/>
              <a:rect r="r" b="b" t="t" l="l"/>
              <a:pathLst>
                <a:path h="152400" w="515162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5075428" y="0"/>
                  </a:lnTo>
                  <a:cubicBezTo>
                    <a:pt x="5117465" y="0"/>
                    <a:pt x="5151628" y="34163"/>
                    <a:pt x="5151628" y="76200"/>
                  </a:cubicBezTo>
                  <a:cubicBezTo>
                    <a:pt x="5151628" y="118237"/>
                    <a:pt x="5117465" y="152400"/>
                    <a:pt x="5075428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25216" y="2841574"/>
            <a:ext cx="757533" cy="757533"/>
            <a:chOff x="0" y="0"/>
            <a:chExt cx="1010044" cy="10100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505079"/>
                  </a:moveTo>
                  <a:cubicBezTo>
                    <a:pt x="0" y="226060"/>
                    <a:pt x="226060" y="0"/>
                    <a:pt x="505079" y="0"/>
                  </a:cubicBezTo>
                  <a:cubicBezTo>
                    <a:pt x="784098" y="0"/>
                    <a:pt x="1010031" y="226060"/>
                    <a:pt x="1010031" y="505079"/>
                  </a:cubicBezTo>
                  <a:cubicBezTo>
                    <a:pt x="1010031" y="784098"/>
                    <a:pt x="783971" y="1010031"/>
                    <a:pt x="505079" y="1010031"/>
                  </a:cubicBezTo>
                  <a:cubicBezTo>
                    <a:pt x="226187" y="1010031"/>
                    <a:pt x="0" y="783971"/>
                    <a:pt x="0" y="505079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752482" y="3030884"/>
            <a:ext cx="303009" cy="378771"/>
            <a:chOff x="0" y="0"/>
            <a:chExt cx="404012" cy="5050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4019" cy="505024"/>
            </a:xfrm>
            <a:custGeom>
              <a:avLst/>
              <a:gdLst/>
              <a:ahLst/>
              <a:cxnLst/>
              <a:rect r="r" b="b" t="t" l="l"/>
              <a:pathLst>
                <a:path h="505024" w="404019">
                  <a:moveTo>
                    <a:pt x="0" y="0"/>
                  </a:moveTo>
                  <a:lnTo>
                    <a:pt x="404019" y="0"/>
                  </a:lnTo>
                  <a:lnTo>
                    <a:pt x="404019" y="505024"/>
                  </a:lnTo>
                  <a:lnTo>
                    <a:pt x="0" y="505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81" t="0" r="-11038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04012" cy="514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2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253190" y="3832469"/>
            <a:ext cx="3301756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CNN Classification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53190" y="4434183"/>
            <a:ext cx="3301756" cy="122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Fine-tuned ResNet-18 for high-accuracy deep feature extraction.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9452" y="6578498"/>
            <a:ext cx="3892153" cy="2745286"/>
            <a:chOff x="0" y="0"/>
            <a:chExt cx="5189538" cy="36603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9050" y="19050"/>
              <a:ext cx="5151501" cy="3622294"/>
            </a:xfrm>
            <a:custGeom>
              <a:avLst/>
              <a:gdLst/>
              <a:ahLst/>
              <a:cxnLst/>
              <a:rect r="r" b="b" t="t" l="l"/>
              <a:pathLst>
                <a:path h="3622294" w="5151501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4967986" y="0"/>
                  </a:lnTo>
                  <a:cubicBezTo>
                    <a:pt x="5069332" y="0"/>
                    <a:pt x="5151501" y="81915"/>
                    <a:pt x="5151501" y="182880"/>
                  </a:cubicBezTo>
                  <a:lnTo>
                    <a:pt x="5151501" y="3439414"/>
                  </a:lnTo>
                  <a:cubicBezTo>
                    <a:pt x="5151501" y="3540379"/>
                    <a:pt x="5069332" y="3622294"/>
                    <a:pt x="4967986" y="3622294"/>
                  </a:cubicBezTo>
                  <a:lnTo>
                    <a:pt x="183515" y="3622294"/>
                  </a:lnTo>
                  <a:cubicBezTo>
                    <a:pt x="82169" y="3622294"/>
                    <a:pt x="0" y="3540379"/>
                    <a:pt x="0" y="3439414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89601" cy="3660394"/>
            </a:xfrm>
            <a:custGeom>
              <a:avLst/>
              <a:gdLst/>
              <a:ahLst/>
              <a:cxnLst/>
              <a:rect r="r" b="b" t="t" l="l"/>
              <a:pathLst>
                <a:path h="3660394" w="5189601">
                  <a:moveTo>
                    <a:pt x="0" y="201930"/>
                  </a:moveTo>
                  <a:cubicBezTo>
                    <a:pt x="0" y="90297"/>
                    <a:pt x="90678" y="0"/>
                    <a:pt x="202565" y="0"/>
                  </a:cubicBezTo>
                  <a:lnTo>
                    <a:pt x="4987036" y="0"/>
                  </a:lnTo>
                  <a:lnTo>
                    <a:pt x="4987036" y="19050"/>
                  </a:lnTo>
                  <a:lnTo>
                    <a:pt x="4987036" y="0"/>
                  </a:lnTo>
                  <a:cubicBezTo>
                    <a:pt x="5098796" y="0"/>
                    <a:pt x="5189601" y="90297"/>
                    <a:pt x="5189601" y="201930"/>
                  </a:cubicBezTo>
                  <a:lnTo>
                    <a:pt x="5170551" y="201930"/>
                  </a:lnTo>
                  <a:lnTo>
                    <a:pt x="5189601" y="201930"/>
                  </a:lnTo>
                  <a:lnTo>
                    <a:pt x="5189601" y="3458464"/>
                  </a:lnTo>
                  <a:lnTo>
                    <a:pt x="5170551" y="3458464"/>
                  </a:lnTo>
                  <a:lnTo>
                    <a:pt x="5189601" y="3458464"/>
                  </a:lnTo>
                  <a:cubicBezTo>
                    <a:pt x="5189601" y="3570097"/>
                    <a:pt x="5098923" y="3660394"/>
                    <a:pt x="4987036" y="3660394"/>
                  </a:cubicBezTo>
                  <a:lnTo>
                    <a:pt x="4987036" y="3641344"/>
                  </a:lnTo>
                  <a:lnTo>
                    <a:pt x="4987036" y="3660394"/>
                  </a:lnTo>
                  <a:lnTo>
                    <a:pt x="202565" y="3660394"/>
                  </a:lnTo>
                  <a:lnTo>
                    <a:pt x="202565" y="3641344"/>
                  </a:lnTo>
                  <a:lnTo>
                    <a:pt x="202565" y="3660394"/>
                  </a:lnTo>
                  <a:cubicBezTo>
                    <a:pt x="90678" y="3660394"/>
                    <a:pt x="0" y="3569970"/>
                    <a:pt x="0" y="345846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458464"/>
                  </a:lnTo>
                  <a:lnTo>
                    <a:pt x="19050" y="3458464"/>
                  </a:lnTo>
                  <a:lnTo>
                    <a:pt x="38100" y="3458464"/>
                  </a:lnTo>
                  <a:cubicBezTo>
                    <a:pt x="38100" y="3548888"/>
                    <a:pt x="111633" y="3622294"/>
                    <a:pt x="202565" y="3622294"/>
                  </a:cubicBezTo>
                  <a:lnTo>
                    <a:pt x="4987036" y="3622294"/>
                  </a:lnTo>
                  <a:cubicBezTo>
                    <a:pt x="5077841" y="3622294"/>
                    <a:pt x="5151501" y="3548888"/>
                    <a:pt x="5151501" y="3458464"/>
                  </a:cubicBezTo>
                  <a:lnTo>
                    <a:pt x="5151501" y="201930"/>
                  </a:lnTo>
                  <a:cubicBezTo>
                    <a:pt x="5151501" y="111506"/>
                    <a:pt x="5077968" y="38100"/>
                    <a:pt x="4987036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83739" y="6564211"/>
            <a:ext cx="3863578" cy="114300"/>
            <a:chOff x="0" y="0"/>
            <a:chExt cx="5151438" cy="152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51374" cy="152400"/>
            </a:xfrm>
            <a:custGeom>
              <a:avLst/>
              <a:gdLst/>
              <a:ahLst/>
              <a:cxnLst/>
              <a:rect r="r" b="b" t="t" l="l"/>
              <a:pathLst>
                <a:path h="152400" w="515137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5075174" y="0"/>
                  </a:lnTo>
                  <a:cubicBezTo>
                    <a:pt x="5117211" y="0"/>
                    <a:pt x="5151374" y="34163"/>
                    <a:pt x="5151374" y="76200"/>
                  </a:cubicBezTo>
                  <a:cubicBezTo>
                    <a:pt x="5151374" y="118237"/>
                    <a:pt x="5117211" y="152400"/>
                    <a:pt x="507517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436762" y="6214024"/>
            <a:ext cx="757533" cy="757533"/>
            <a:chOff x="0" y="0"/>
            <a:chExt cx="1010044" cy="10100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505079"/>
                  </a:moveTo>
                  <a:cubicBezTo>
                    <a:pt x="0" y="226060"/>
                    <a:pt x="226060" y="0"/>
                    <a:pt x="505079" y="0"/>
                  </a:cubicBezTo>
                  <a:cubicBezTo>
                    <a:pt x="784098" y="0"/>
                    <a:pt x="1010031" y="226060"/>
                    <a:pt x="1010031" y="505079"/>
                  </a:cubicBezTo>
                  <a:cubicBezTo>
                    <a:pt x="1010031" y="784098"/>
                    <a:pt x="783971" y="1010031"/>
                    <a:pt x="505079" y="1010031"/>
                  </a:cubicBezTo>
                  <a:cubicBezTo>
                    <a:pt x="226187" y="1010031"/>
                    <a:pt x="0" y="783971"/>
                    <a:pt x="0" y="505079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664028" y="6403334"/>
            <a:ext cx="303009" cy="378771"/>
            <a:chOff x="0" y="0"/>
            <a:chExt cx="404012" cy="5050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4019" cy="505024"/>
            </a:xfrm>
            <a:custGeom>
              <a:avLst/>
              <a:gdLst/>
              <a:ahLst/>
              <a:cxnLst/>
              <a:rect r="r" b="b" t="t" l="l"/>
              <a:pathLst>
                <a:path h="505024" w="404019">
                  <a:moveTo>
                    <a:pt x="0" y="0"/>
                  </a:moveTo>
                  <a:lnTo>
                    <a:pt x="404019" y="0"/>
                  </a:lnTo>
                  <a:lnTo>
                    <a:pt x="404019" y="505024"/>
                  </a:lnTo>
                  <a:lnTo>
                    <a:pt x="0" y="505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81" t="0" r="-11038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04012" cy="514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64727" y="7204920"/>
            <a:ext cx="3301603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AI Descriptions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64727" y="7806633"/>
            <a:ext cx="3301603" cy="122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Gemini API generates botanical and medicinal plant details.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4957905" y="6578498"/>
            <a:ext cx="3892306" cy="2745286"/>
            <a:chOff x="0" y="0"/>
            <a:chExt cx="5189741" cy="36603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9050" y="19050"/>
              <a:ext cx="5151755" cy="3622294"/>
            </a:xfrm>
            <a:custGeom>
              <a:avLst/>
              <a:gdLst/>
              <a:ahLst/>
              <a:cxnLst/>
              <a:rect r="r" b="b" t="t" l="l"/>
              <a:pathLst>
                <a:path h="3622294" w="5151755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4968240" y="0"/>
                  </a:lnTo>
                  <a:cubicBezTo>
                    <a:pt x="5069586" y="0"/>
                    <a:pt x="5151755" y="81915"/>
                    <a:pt x="5151755" y="182880"/>
                  </a:cubicBezTo>
                  <a:lnTo>
                    <a:pt x="5151755" y="3439414"/>
                  </a:lnTo>
                  <a:cubicBezTo>
                    <a:pt x="5151755" y="3540379"/>
                    <a:pt x="5069586" y="3622294"/>
                    <a:pt x="4968240" y="3622294"/>
                  </a:cubicBezTo>
                  <a:lnTo>
                    <a:pt x="183515" y="3622294"/>
                  </a:lnTo>
                  <a:cubicBezTo>
                    <a:pt x="82169" y="3622294"/>
                    <a:pt x="0" y="3540379"/>
                    <a:pt x="0" y="3439414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89855" cy="3660394"/>
            </a:xfrm>
            <a:custGeom>
              <a:avLst/>
              <a:gdLst/>
              <a:ahLst/>
              <a:cxnLst/>
              <a:rect r="r" b="b" t="t" l="l"/>
              <a:pathLst>
                <a:path h="3660394" w="5189855">
                  <a:moveTo>
                    <a:pt x="0" y="201930"/>
                  </a:moveTo>
                  <a:cubicBezTo>
                    <a:pt x="0" y="90297"/>
                    <a:pt x="90678" y="0"/>
                    <a:pt x="202565" y="0"/>
                  </a:cubicBezTo>
                  <a:lnTo>
                    <a:pt x="4987290" y="0"/>
                  </a:lnTo>
                  <a:lnTo>
                    <a:pt x="4987290" y="19050"/>
                  </a:lnTo>
                  <a:lnTo>
                    <a:pt x="4987290" y="0"/>
                  </a:lnTo>
                  <a:cubicBezTo>
                    <a:pt x="5099050" y="0"/>
                    <a:pt x="5189855" y="90297"/>
                    <a:pt x="5189855" y="201930"/>
                  </a:cubicBezTo>
                  <a:lnTo>
                    <a:pt x="5170805" y="201930"/>
                  </a:lnTo>
                  <a:lnTo>
                    <a:pt x="5189855" y="201930"/>
                  </a:lnTo>
                  <a:lnTo>
                    <a:pt x="5189855" y="3458464"/>
                  </a:lnTo>
                  <a:lnTo>
                    <a:pt x="5170805" y="3458464"/>
                  </a:lnTo>
                  <a:lnTo>
                    <a:pt x="5189855" y="3458464"/>
                  </a:lnTo>
                  <a:cubicBezTo>
                    <a:pt x="5189855" y="3570097"/>
                    <a:pt x="5099177" y="3660394"/>
                    <a:pt x="4987290" y="3660394"/>
                  </a:cubicBezTo>
                  <a:lnTo>
                    <a:pt x="4987290" y="3641344"/>
                  </a:lnTo>
                  <a:lnTo>
                    <a:pt x="4987290" y="3660394"/>
                  </a:lnTo>
                  <a:lnTo>
                    <a:pt x="202565" y="3660394"/>
                  </a:lnTo>
                  <a:lnTo>
                    <a:pt x="202565" y="3641344"/>
                  </a:lnTo>
                  <a:lnTo>
                    <a:pt x="202565" y="3660394"/>
                  </a:lnTo>
                  <a:cubicBezTo>
                    <a:pt x="90678" y="3660394"/>
                    <a:pt x="0" y="3569970"/>
                    <a:pt x="0" y="345846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458464"/>
                  </a:lnTo>
                  <a:lnTo>
                    <a:pt x="19050" y="3458464"/>
                  </a:lnTo>
                  <a:lnTo>
                    <a:pt x="38100" y="3458464"/>
                  </a:lnTo>
                  <a:cubicBezTo>
                    <a:pt x="38100" y="3548888"/>
                    <a:pt x="111633" y="3622294"/>
                    <a:pt x="202565" y="3622294"/>
                  </a:cubicBezTo>
                  <a:lnTo>
                    <a:pt x="4987290" y="3622294"/>
                  </a:lnTo>
                  <a:cubicBezTo>
                    <a:pt x="5078095" y="3622294"/>
                    <a:pt x="5151755" y="3548888"/>
                    <a:pt x="5151755" y="3458464"/>
                  </a:cubicBezTo>
                  <a:lnTo>
                    <a:pt x="5151755" y="201930"/>
                  </a:lnTo>
                  <a:cubicBezTo>
                    <a:pt x="5151755" y="111506"/>
                    <a:pt x="5078222" y="38100"/>
                    <a:pt x="4987290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72202" y="6564211"/>
            <a:ext cx="3863731" cy="114300"/>
            <a:chOff x="0" y="0"/>
            <a:chExt cx="5151641" cy="152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51628" cy="152400"/>
            </a:xfrm>
            <a:custGeom>
              <a:avLst/>
              <a:gdLst/>
              <a:ahLst/>
              <a:cxnLst/>
              <a:rect r="r" b="b" t="t" l="l"/>
              <a:pathLst>
                <a:path h="152400" w="515162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5075428" y="0"/>
                  </a:lnTo>
                  <a:cubicBezTo>
                    <a:pt x="5117465" y="0"/>
                    <a:pt x="5151628" y="34163"/>
                    <a:pt x="5151628" y="76200"/>
                  </a:cubicBezTo>
                  <a:cubicBezTo>
                    <a:pt x="5151628" y="118237"/>
                    <a:pt x="5117465" y="152400"/>
                    <a:pt x="5075428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525216" y="6214024"/>
            <a:ext cx="757533" cy="757533"/>
            <a:chOff x="0" y="0"/>
            <a:chExt cx="1010044" cy="10100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505079"/>
                  </a:moveTo>
                  <a:cubicBezTo>
                    <a:pt x="0" y="226060"/>
                    <a:pt x="226060" y="0"/>
                    <a:pt x="505079" y="0"/>
                  </a:cubicBezTo>
                  <a:cubicBezTo>
                    <a:pt x="784098" y="0"/>
                    <a:pt x="1010031" y="226060"/>
                    <a:pt x="1010031" y="505079"/>
                  </a:cubicBezTo>
                  <a:cubicBezTo>
                    <a:pt x="1010031" y="784098"/>
                    <a:pt x="783971" y="1010031"/>
                    <a:pt x="505079" y="1010031"/>
                  </a:cubicBezTo>
                  <a:cubicBezTo>
                    <a:pt x="226187" y="1010031"/>
                    <a:pt x="0" y="783971"/>
                    <a:pt x="0" y="505079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752482" y="6403334"/>
            <a:ext cx="303009" cy="378771"/>
            <a:chOff x="0" y="0"/>
            <a:chExt cx="404012" cy="5050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4019" cy="505024"/>
            </a:xfrm>
            <a:custGeom>
              <a:avLst/>
              <a:gdLst/>
              <a:ahLst/>
              <a:cxnLst/>
              <a:rect r="r" b="b" t="t" l="l"/>
              <a:pathLst>
                <a:path h="505024" w="404019">
                  <a:moveTo>
                    <a:pt x="0" y="0"/>
                  </a:moveTo>
                  <a:lnTo>
                    <a:pt x="404019" y="0"/>
                  </a:lnTo>
                  <a:lnTo>
                    <a:pt x="404019" y="505024"/>
                  </a:lnTo>
                  <a:lnTo>
                    <a:pt x="0" y="505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81" t="0" r="-11038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04012" cy="514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4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5253190" y="7204920"/>
            <a:ext cx="3301756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Web Interface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253190" y="7806633"/>
            <a:ext cx="3301756" cy="83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Streamlit-based real-time interactive application.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461602" y="2135534"/>
            <a:ext cx="3908669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Real-World Applications</a:t>
            </a:r>
          </a:p>
        </p:txBody>
      </p:sp>
      <p:sp>
        <p:nvSpPr>
          <p:cNvPr name="Freeform 57" id="57" descr="preencoded.png"/>
          <p:cNvSpPr/>
          <p:nvPr/>
        </p:nvSpPr>
        <p:spPr>
          <a:xfrm flipH="false" flipV="false" rot="0">
            <a:off x="9461602" y="2841574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7" y="0"/>
                </a:lnTo>
                <a:lnTo>
                  <a:pt x="504977" y="504978"/>
                </a:lnTo>
                <a:lnTo>
                  <a:pt x="0" y="504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78" t="0" r="-2776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0247557" y="2909287"/>
            <a:ext cx="3472158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Agriculture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47557" y="3511001"/>
            <a:ext cx="7166219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Crop monitoring and weed detection in the field.</a:t>
            </a:r>
          </a:p>
        </p:txBody>
      </p:sp>
      <p:sp>
        <p:nvSpPr>
          <p:cNvPr name="Freeform 60" id="60" descr="preencoded.png"/>
          <p:cNvSpPr/>
          <p:nvPr/>
        </p:nvSpPr>
        <p:spPr>
          <a:xfrm flipH="false" flipV="false" rot="0">
            <a:off x="9461602" y="4418857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7" y="0"/>
                </a:lnTo>
                <a:lnTo>
                  <a:pt x="504977" y="504977"/>
                </a:lnTo>
                <a:lnTo>
                  <a:pt x="0" y="504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9259" r="0" b="-9257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10247557" y="4486570"/>
            <a:ext cx="3472158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Conservation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247557" y="5088284"/>
            <a:ext cx="7166219" cy="83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Rapid biodiversity surveys and endangered species tracking.</a:t>
            </a:r>
          </a:p>
        </p:txBody>
      </p:sp>
      <p:sp>
        <p:nvSpPr>
          <p:cNvPr name="Freeform 63" id="63" descr="preencoded.png"/>
          <p:cNvSpPr/>
          <p:nvPr/>
        </p:nvSpPr>
        <p:spPr>
          <a:xfrm flipH="false" flipV="false" rot="0">
            <a:off x="9461602" y="6378026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7" y="0"/>
                </a:lnTo>
                <a:lnTo>
                  <a:pt x="504977" y="504977"/>
                </a:lnTo>
                <a:lnTo>
                  <a:pt x="0" y="504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740" t="0" r="-1574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0247557" y="6445748"/>
            <a:ext cx="3472158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Education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47557" y="7047462"/>
            <a:ext cx="7166219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Interactive botanical learning tools for students.</a:t>
            </a:r>
          </a:p>
        </p:txBody>
      </p:sp>
      <p:sp>
        <p:nvSpPr>
          <p:cNvPr name="Freeform 66" id="66" descr="preencoded.png"/>
          <p:cNvSpPr/>
          <p:nvPr/>
        </p:nvSpPr>
        <p:spPr>
          <a:xfrm flipH="false" flipV="false" rot="0">
            <a:off x="9461602" y="7955309"/>
            <a:ext cx="504977" cy="504977"/>
          </a:xfrm>
          <a:custGeom>
            <a:avLst/>
            <a:gdLst/>
            <a:ahLst/>
            <a:cxnLst/>
            <a:rect r="r" b="b" t="t" l="l"/>
            <a:pathLst>
              <a:path h="504977" w="504977">
                <a:moveTo>
                  <a:pt x="0" y="0"/>
                </a:moveTo>
                <a:lnTo>
                  <a:pt x="504977" y="0"/>
                </a:lnTo>
                <a:lnTo>
                  <a:pt x="504977" y="504977"/>
                </a:lnTo>
                <a:lnTo>
                  <a:pt x="0" y="5049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5000" r="0" b="-24998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10247557" y="8023022"/>
            <a:ext cx="3472158" cy="4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Botanical Research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47557" y="8624735"/>
            <a:ext cx="7166219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Accelerating species documentation for scientists.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8978" y="610495"/>
            <a:ext cx="6213272" cy="82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48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Literature Review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8978" y="4174179"/>
            <a:ext cx="5674814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Evolution of Plant Recognition Methods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8978" y="4732734"/>
            <a:ext cx="7519245" cy="101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Research in automated plant identification has progressed from handcrafted feature engineering to end-to-end deep learning, dramatically improving classification accuracy and generalizability.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48978" y="5947467"/>
            <a:ext cx="7519245" cy="1160707"/>
            <a:chOff x="0" y="0"/>
            <a:chExt cx="10025659" cy="15476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25634" cy="1547622"/>
            </a:xfrm>
            <a:custGeom>
              <a:avLst/>
              <a:gdLst/>
              <a:ahLst/>
              <a:cxnLst/>
              <a:rect r="r" b="b" t="t" l="l"/>
              <a:pathLst>
                <a:path h="1547622" w="10025634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9899142" y="0"/>
                  </a:lnTo>
                  <a:cubicBezTo>
                    <a:pt x="9968992" y="0"/>
                    <a:pt x="10025634" y="56642"/>
                    <a:pt x="10025634" y="126492"/>
                  </a:cubicBezTo>
                  <a:lnTo>
                    <a:pt x="10025634" y="1421130"/>
                  </a:lnTo>
                  <a:cubicBezTo>
                    <a:pt x="10025634" y="1490980"/>
                    <a:pt x="9968992" y="1547622"/>
                    <a:pt x="9899142" y="1547622"/>
                  </a:cubicBezTo>
                  <a:lnTo>
                    <a:pt x="126492" y="1547622"/>
                  </a:lnTo>
                  <a:cubicBezTo>
                    <a:pt x="56642" y="1547622"/>
                    <a:pt x="0" y="1490980"/>
                    <a:pt x="0" y="1421130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4902" y="6270127"/>
            <a:ext cx="282331" cy="225923"/>
            <a:chOff x="0" y="0"/>
            <a:chExt cx="376441" cy="30123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76428" cy="301244"/>
            </a:xfrm>
            <a:custGeom>
              <a:avLst/>
              <a:gdLst/>
              <a:ahLst/>
              <a:cxnLst/>
              <a:rect r="r" b="b" t="t" l="l"/>
              <a:pathLst>
                <a:path h="301244" w="376428">
                  <a:moveTo>
                    <a:pt x="0" y="0"/>
                  </a:moveTo>
                  <a:lnTo>
                    <a:pt x="376428" y="0"/>
                  </a:lnTo>
                  <a:lnTo>
                    <a:pt x="376428" y="301244"/>
                  </a:lnTo>
                  <a:lnTo>
                    <a:pt x="0" y="301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" t="0" r="-16" b="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083146" y="6145711"/>
            <a:ext cx="6559153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Transfer learning with pretrained CNNs consistently outperforms traditional ML on small botanical datasets.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007" y="1907086"/>
            <a:ext cx="7519245" cy="7519245"/>
            <a:chOff x="0" y="0"/>
            <a:chExt cx="10025659" cy="1002565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025634" cy="10025634"/>
            </a:xfrm>
            <a:custGeom>
              <a:avLst/>
              <a:gdLst/>
              <a:ahLst/>
              <a:cxnLst/>
              <a:rect r="r" b="b" t="t" l="l"/>
              <a:pathLst>
                <a:path h="10025634" w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29007" y="1907086"/>
            <a:ext cx="7519245" cy="7519245"/>
            <a:chOff x="0" y="0"/>
            <a:chExt cx="10025659" cy="1002565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025634" cy="10025634"/>
            </a:xfrm>
            <a:custGeom>
              <a:avLst/>
              <a:gdLst/>
              <a:ahLst/>
              <a:cxnLst/>
              <a:rect r="r" b="b" t="t" l="l"/>
              <a:pathLst>
                <a:path h="10025634" w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66055" y="561232"/>
            <a:ext cx="6118327" cy="71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43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Dataset &amp; Preprocessing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266055" y="1642910"/>
            <a:ext cx="5922464" cy="7896520"/>
            <a:chOff x="0" y="0"/>
            <a:chExt cx="7896619" cy="1052869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896606" cy="10528681"/>
            </a:xfrm>
            <a:custGeom>
              <a:avLst/>
              <a:gdLst/>
              <a:ahLst/>
              <a:cxnLst/>
              <a:rect r="r" b="b" t="t" l="l"/>
              <a:pathLst>
                <a:path h="10528681" w="7896606">
                  <a:moveTo>
                    <a:pt x="0" y="0"/>
                  </a:moveTo>
                  <a:lnTo>
                    <a:pt x="7896606" y="0"/>
                  </a:lnTo>
                  <a:lnTo>
                    <a:pt x="7896606" y="10528681"/>
                  </a:lnTo>
                  <a:lnTo>
                    <a:pt x="0" y="10528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" t="0" r="-1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684419" y="1660922"/>
            <a:ext cx="4085634" cy="36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Indian Medicinal Leaves Dataset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679656" y="2175424"/>
            <a:ext cx="3612804" cy="1453010"/>
            <a:chOff x="0" y="0"/>
            <a:chExt cx="4817072" cy="19373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4804410" cy="1924685"/>
            </a:xfrm>
            <a:custGeom>
              <a:avLst/>
              <a:gdLst/>
              <a:ahLst/>
              <a:cxnLst/>
              <a:rect r="r" b="b" t="t" l="l"/>
              <a:pathLst>
                <a:path h="1924685" w="4804410">
                  <a:moveTo>
                    <a:pt x="0" y="111633"/>
                  </a:moveTo>
                  <a:cubicBezTo>
                    <a:pt x="0" y="50038"/>
                    <a:pt x="50165" y="0"/>
                    <a:pt x="112141" y="0"/>
                  </a:cubicBezTo>
                  <a:lnTo>
                    <a:pt x="4692269" y="0"/>
                  </a:lnTo>
                  <a:cubicBezTo>
                    <a:pt x="4754118" y="0"/>
                    <a:pt x="4804410" y="50038"/>
                    <a:pt x="4804410" y="111633"/>
                  </a:cubicBezTo>
                  <a:lnTo>
                    <a:pt x="4804410" y="1813052"/>
                  </a:lnTo>
                  <a:cubicBezTo>
                    <a:pt x="4804410" y="1874774"/>
                    <a:pt x="4754245" y="1924685"/>
                    <a:pt x="4692269" y="1924685"/>
                  </a:cubicBezTo>
                  <a:lnTo>
                    <a:pt x="112141" y="1924685"/>
                  </a:lnTo>
                  <a:cubicBezTo>
                    <a:pt x="50292" y="1924685"/>
                    <a:pt x="0" y="1874647"/>
                    <a:pt x="0" y="181305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7110" cy="1937385"/>
            </a:xfrm>
            <a:custGeom>
              <a:avLst/>
              <a:gdLst/>
              <a:ahLst/>
              <a:cxnLst/>
              <a:rect r="r" b="b" t="t" l="l"/>
              <a:pathLst>
                <a:path h="1937385" w="4817110">
                  <a:moveTo>
                    <a:pt x="0" y="117983"/>
                  </a:moveTo>
                  <a:cubicBezTo>
                    <a:pt x="0" y="52832"/>
                    <a:pt x="53086" y="0"/>
                    <a:pt x="118491" y="0"/>
                  </a:cubicBezTo>
                  <a:lnTo>
                    <a:pt x="4698619" y="0"/>
                  </a:lnTo>
                  <a:lnTo>
                    <a:pt x="4698619" y="6350"/>
                  </a:lnTo>
                  <a:lnTo>
                    <a:pt x="4698619" y="0"/>
                  </a:lnTo>
                  <a:cubicBezTo>
                    <a:pt x="4764024" y="0"/>
                    <a:pt x="4817110" y="52832"/>
                    <a:pt x="4817110" y="117983"/>
                  </a:cubicBezTo>
                  <a:lnTo>
                    <a:pt x="4810760" y="117983"/>
                  </a:lnTo>
                  <a:lnTo>
                    <a:pt x="4817110" y="117983"/>
                  </a:lnTo>
                  <a:lnTo>
                    <a:pt x="4817110" y="1819402"/>
                  </a:lnTo>
                  <a:lnTo>
                    <a:pt x="4810760" y="1819402"/>
                  </a:lnTo>
                  <a:lnTo>
                    <a:pt x="4817110" y="1819402"/>
                  </a:lnTo>
                  <a:cubicBezTo>
                    <a:pt x="4817110" y="1884553"/>
                    <a:pt x="4764024" y="1937385"/>
                    <a:pt x="4698619" y="1937385"/>
                  </a:cubicBezTo>
                  <a:lnTo>
                    <a:pt x="4698619" y="1931035"/>
                  </a:lnTo>
                  <a:lnTo>
                    <a:pt x="4698619" y="1937385"/>
                  </a:lnTo>
                  <a:lnTo>
                    <a:pt x="118491" y="1937385"/>
                  </a:lnTo>
                  <a:lnTo>
                    <a:pt x="118491" y="1931035"/>
                  </a:lnTo>
                  <a:lnTo>
                    <a:pt x="118491" y="1937385"/>
                  </a:lnTo>
                  <a:cubicBezTo>
                    <a:pt x="53086" y="1937385"/>
                    <a:pt x="0" y="1884553"/>
                    <a:pt x="0" y="1819402"/>
                  </a:cubicBezTo>
                  <a:lnTo>
                    <a:pt x="0" y="117983"/>
                  </a:lnTo>
                  <a:lnTo>
                    <a:pt x="6350" y="117983"/>
                  </a:lnTo>
                  <a:lnTo>
                    <a:pt x="0" y="117983"/>
                  </a:lnTo>
                  <a:moveTo>
                    <a:pt x="12700" y="117983"/>
                  </a:moveTo>
                  <a:lnTo>
                    <a:pt x="12700" y="1819402"/>
                  </a:lnTo>
                  <a:lnTo>
                    <a:pt x="6350" y="1819402"/>
                  </a:lnTo>
                  <a:lnTo>
                    <a:pt x="12700" y="1819402"/>
                  </a:lnTo>
                  <a:cubicBezTo>
                    <a:pt x="12700" y="1877568"/>
                    <a:pt x="60071" y="1924685"/>
                    <a:pt x="118491" y="1924685"/>
                  </a:cubicBezTo>
                  <a:lnTo>
                    <a:pt x="4698619" y="1924685"/>
                  </a:lnTo>
                  <a:cubicBezTo>
                    <a:pt x="4757039" y="1924685"/>
                    <a:pt x="4804410" y="1877568"/>
                    <a:pt x="4804410" y="1819402"/>
                  </a:cubicBezTo>
                  <a:lnTo>
                    <a:pt x="4804410" y="117983"/>
                  </a:lnTo>
                  <a:cubicBezTo>
                    <a:pt x="4804410" y="59817"/>
                    <a:pt x="4757039" y="12700"/>
                    <a:pt x="4698619" y="12700"/>
                  </a:cubicBezTo>
                  <a:lnTo>
                    <a:pt x="118491" y="12700"/>
                  </a:lnTo>
                  <a:lnTo>
                    <a:pt x="118491" y="6350"/>
                  </a:lnTo>
                  <a:lnTo>
                    <a:pt x="118491" y="12700"/>
                  </a:lnTo>
                  <a:cubicBezTo>
                    <a:pt x="60071" y="12700"/>
                    <a:pt x="12700" y="59817"/>
                    <a:pt x="12700" y="117983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893226" y="2369944"/>
            <a:ext cx="2741114" cy="36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99 Species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93226" y="2833535"/>
            <a:ext cx="3185665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Plant classes covering Indian medicinal flora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422981" y="2175424"/>
            <a:ext cx="3612956" cy="1453010"/>
            <a:chOff x="0" y="0"/>
            <a:chExt cx="4817275" cy="19373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4804664" cy="1924685"/>
            </a:xfrm>
            <a:custGeom>
              <a:avLst/>
              <a:gdLst/>
              <a:ahLst/>
              <a:cxnLst/>
              <a:rect r="r" b="b" t="t" l="l"/>
              <a:pathLst>
                <a:path h="1924685" w="4804664">
                  <a:moveTo>
                    <a:pt x="0" y="111633"/>
                  </a:moveTo>
                  <a:cubicBezTo>
                    <a:pt x="0" y="50038"/>
                    <a:pt x="50165" y="0"/>
                    <a:pt x="112141" y="0"/>
                  </a:cubicBezTo>
                  <a:lnTo>
                    <a:pt x="4692523" y="0"/>
                  </a:lnTo>
                  <a:cubicBezTo>
                    <a:pt x="4754372" y="0"/>
                    <a:pt x="4804664" y="50038"/>
                    <a:pt x="4804664" y="111633"/>
                  </a:cubicBezTo>
                  <a:lnTo>
                    <a:pt x="4804664" y="1813052"/>
                  </a:lnTo>
                  <a:cubicBezTo>
                    <a:pt x="4804664" y="1874774"/>
                    <a:pt x="4754499" y="1924685"/>
                    <a:pt x="4692523" y="1924685"/>
                  </a:cubicBezTo>
                  <a:lnTo>
                    <a:pt x="112141" y="1924685"/>
                  </a:lnTo>
                  <a:cubicBezTo>
                    <a:pt x="50292" y="1924685"/>
                    <a:pt x="0" y="1874647"/>
                    <a:pt x="0" y="181305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7364" cy="1937385"/>
            </a:xfrm>
            <a:custGeom>
              <a:avLst/>
              <a:gdLst/>
              <a:ahLst/>
              <a:cxnLst/>
              <a:rect r="r" b="b" t="t" l="l"/>
              <a:pathLst>
                <a:path h="1937385" w="4817364">
                  <a:moveTo>
                    <a:pt x="0" y="117983"/>
                  </a:moveTo>
                  <a:cubicBezTo>
                    <a:pt x="0" y="52832"/>
                    <a:pt x="53086" y="0"/>
                    <a:pt x="118491" y="0"/>
                  </a:cubicBezTo>
                  <a:lnTo>
                    <a:pt x="4698873" y="0"/>
                  </a:lnTo>
                  <a:lnTo>
                    <a:pt x="4698873" y="6350"/>
                  </a:lnTo>
                  <a:lnTo>
                    <a:pt x="4698873" y="0"/>
                  </a:lnTo>
                  <a:cubicBezTo>
                    <a:pt x="4764278" y="0"/>
                    <a:pt x="4817364" y="52832"/>
                    <a:pt x="4817364" y="117983"/>
                  </a:cubicBezTo>
                  <a:lnTo>
                    <a:pt x="4811014" y="117983"/>
                  </a:lnTo>
                  <a:lnTo>
                    <a:pt x="4817364" y="117983"/>
                  </a:lnTo>
                  <a:lnTo>
                    <a:pt x="4817364" y="1819402"/>
                  </a:lnTo>
                  <a:lnTo>
                    <a:pt x="4811014" y="1819402"/>
                  </a:lnTo>
                  <a:lnTo>
                    <a:pt x="4817364" y="1819402"/>
                  </a:lnTo>
                  <a:cubicBezTo>
                    <a:pt x="4817364" y="1884553"/>
                    <a:pt x="4764278" y="1937385"/>
                    <a:pt x="4698873" y="1937385"/>
                  </a:cubicBezTo>
                  <a:lnTo>
                    <a:pt x="4698873" y="1931035"/>
                  </a:lnTo>
                  <a:lnTo>
                    <a:pt x="4698873" y="1937385"/>
                  </a:lnTo>
                  <a:lnTo>
                    <a:pt x="118491" y="1937385"/>
                  </a:lnTo>
                  <a:lnTo>
                    <a:pt x="118491" y="1931035"/>
                  </a:lnTo>
                  <a:lnTo>
                    <a:pt x="118491" y="1937385"/>
                  </a:lnTo>
                  <a:cubicBezTo>
                    <a:pt x="53086" y="1937385"/>
                    <a:pt x="0" y="1884553"/>
                    <a:pt x="0" y="1819402"/>
                  </a:cubicBezTo>
                  <a:lnTo>
                    <a:pt x="0" y="117983"/>
                  </a:lnTo>
                  <a:lnTo>
                    <a:pt x="6350" y="117983"/>
                  </a:lnTo>
                  <a:lnTo>
                    <a:pt x="0" y="117983"/>
                  </a:lnTo>
                  <a:moveTo>
                    <a:pt x="12700" y="117983"/>
                  </a:moveTo>
                  <a:lnTo>
                    <a:pt x="12700" y="1819402"/>
                  </a:lnTo>
                  <a:lnTo>
                    <a:pt x="6350" y="1819402"/>
                  </a:lnTo>
                  <a:lnTo>
                    <a:pt x="12700" y="1819402"/>
                  </a:lnTo>
                  <a:cubicBezTo>
                    <a:pt x="12700" y="1877568"/>
                    <a:pt x="60071" y="1924685"/>
                    <a:pt x="118491" y="1924685"/>
                  </a:cubicBezTo>
                  <a:lnTo>
                    <a:pt x="4698873" y="1924685"/>
                  </a:lnTo>
                  <a:cubicBezTo>
                    <a:pt x="4757293" y="1924685"/>
                    <a:pt x="4804664" y="1877568"/>
                    <a:pt x="4804664" y="1819402"/>
                  </a:cubicBezTo>
                  <a:lnTo>
                    <a:pt x="4804664" y="117983"/>
                  </a:lnTo>
                  <a:cubicBezTo>
                    <a:pt x="4804664" y="59817"/>
                    <a:pt x="4757293" y="12700"/>
                    <a:pt x="4698873" y="12700"/>
                  </a:cubicBezTo>
                  <a:lnTo>
                    <a:pt x="118491" y="12700"/>
                  </a:lnTo>
                  <a:lnTo>
                    <a:pt x="118491" y="6350"/>
                  </a:lnTo>
                  <a:lnTo>
                    <a:pt x="118491" y="12700"/>
                  </a:lnTo>
                  <a:cubicBezTo>
                    <a:pt x="60071" y="12700"/>
                    <a:pt x="12700" y="59817"/>
                    <a:pt x="12700" y="117983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636551" y="2369944"/>
            <a:ext cx="2741114" cy="36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224×224 px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36551" y="2833535"/>
            <a:ext cx="3185817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Uniform image resizing for model input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679656" y="3758956"/>
            <a:ext cx="7356281" cy="1181395"/>
            <a:chOff x="0" y="0"/>
            <a:chExt cx="9808375" cy="15751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9795637" cy="1562481"/>
            </a:xfrm>
            <a:custGeom>
              <a:avLst/>
              <a:gdLst/>
              <a:ahLst/>
              <a:cxnLst/>
              <a:rect r="r" b="b" t="t" l="l"/>
              <a:pathLst>
                <a:path h="1562481" w="9795637">
                  <a:moveTo>
                    <a:pt x="0" y="111633"/>
                  </a:moveTo>
                  <a:cubicBezTo>
                    <a:pt x="0" y="50038"/>
                    <a:pt x="50292" y="0"/>
                    <a:pt x="112395" y="0"/>
                  </a:cubicBezTo>
                  <a:lnTo>
                    <a:pt x="9683242" y="0"/>
                  </a:lnTo>
                  <a:cubicBezTo>
                    <a:pt x="9745345" y="0"/>
                    <a:pt x="9795637" y="50038"/>
                    <a:pt x="9795637" y="111633"/>
                  </a:cubicBezTo>
                  <a:lnTo>
                    <a:pt x="9795637" y="1450848"/>
                  </a:lnTo>
                  <a:cubicBezTo>
                    <a:pt x="9795637" y="1512443"/>
                    <a:pt x="9745345" y="1562481"/>
                    <a:pt x="9683242" y="1562481"/>
                  </a:cubicBezTo>
                  <a:lnTo>
                    <a:pt x="112395" y="1562481"/>
                  </a:lnTo>
                  <a:cubicBezTo>
                    <a:pt x="50292" y="1562481"/>
                    <a:pt x="0" y="1512443"/>
                    <a:pt x="0" y="1450848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08337" cy="1575181"/>
            </a:xfrm>
            <a:custGeom>
              <a:avLst/>
              <a:gdLst/>
              <a:ahLst/>
              <a:cxnLst/>
              <a:rect r="r" b="b" t="t" l="l"/>
              <a:pathLst>
                <a:path h="1575181" w="9808337">
                  <a:moveTo>
                    <a:pt x="0" y="117983"/>
                  </a:moveTo>
                  <a:cubicBezTo>
                    <a:pt x="0" y="52832"/>
                    <a:pt x="53213" y="0"/>
                    <a:pt x="118745" y="0"/>
                  </a:cubicBezTo>
                  <a:lnTo>
                    <a:pt x="9689592" y="0"/>
                  </a:lnTo>
                  <a:lnTo>
                    <a:pt x="9689592" y="6350"/>
                  </a:lnTo>
                  <a:lnTo>
                    <a:pt x="9689592" y="0"/>
                  </a:lnTo>
                  <a:cubicBezTo>
                    <a:pt x="9755124" y="0"/>
                    <a:pt x="9808337" y="52832"/>
                    <a:pt x="9808337" y="117983"/>
                  </a:cubicBezTo>
                  <a:lnTo>
                    <a:pt x="9801987" y="117983"/>
                  </a:lnTo>
                  <a:lnTo>
                    <a:pt x="9808337" y="117983"/>
                  </a:lnTo>
                  <a:lnTo>
                    <a:pt x="9808337" y="1457198"/>
                  </a:lnTo>
                  <a:lnTo>
                    <a:pt x="9801987" y="1457198"/>
                  </a:lnTo>
                  <a:lnTo>
                    <a:pt x="9808337" y="1457198"/>
                  </a:lnTo>
                  <a:cubicBezTo>
                    <a:pt x="9808337" y="1522349"/>
                    <a:pt x="9755124" y="1575181"/>
                    <a:pt x="9689592" y="1575181"/>
                  </a:cubicBezTo>
                  <a:lnTo>
                    <a:pt x="9689592" y="1568831"/>
                  </a:lnTo>
                  <a:lnTo>
                    <a:pt x="9689592" y="1575181"/>
                  </a:lnTo>
                  <a:lnTo>
                    <a:pt x="118745" y="1575181"/>
                  </a:lnTo>
                  <a:lnTo>
                    <a:pt x="118745" y="1568831"/>
                  </a:lnTo>
                  <a:lnTo>
                    <a:pt x="118745" y="1575181"/>
                  </a:lnTo>
                  <a:cubicBezTo>
                    <a:pt x="53213" y="1575181"/>
                    <a:pt x="0" y="1522349"/>
                    <a:pt x="0" y="1457198"/>
                  </a:cubicBezTo>
                  <a:lnTo>
                    <a:pt x="0" y="117983"/>
                  </a:lnTo>
                  <a:lnTo>
                    <a:pt x="6350" y="117983"/>
                  </a:lnTo>
                  <a:lnTo>
                    <a:pt x="0" y="117983"/>
                  </a:lnTo>
                  <a:moveTo>
                    <a:pt x="12700" y="117983"/>
                  </a:moveTo>
                  <a:lnTo>
                    <a:pt x="12700" y="1457198"/>
                  </a:lnTo>
                  <a:lnTo>
                    <a:pt x="6350" y="1457198"/>
                  </a:lnTo>
                  <a:lnTo>
                    <a:pt x="12700" y="1457198"/>
                  </a:lnTo>
                  <a:cubicBezTo>
                    <a:pt x="12700" y="1515364"/>
                    <a:pt x="60198" y="1562481"/>
                    <a:pt x="118745" y="1562481"/>
                  </a:cubicBezTo>
                  <a:lnTo>
                    <a:pt x="9689592" y="1562481"/>
                  </a:lnTo>
                  <a:cubicBezTo>
                    <a:pt x="9748266" y="1562481"/>
                    <a:pt x="9795637" y="1515364"/>
                    <a:pt x="9795637" y="1457198"/>
                  </a:cubicBezTo>
                  <a:lnTo>
                    <a:pt x="9795637" y="117983"/>
                  </a:lnTo>
                  <a:cubicBezTo>
                    <a:pt x="9795637" y="59817"/>
                    <a:pt x="9748139" y="12700"/>
                    <a:pt x="9689592" y="12700"/>
                  </a:cubicBezTo>
                  <a:lnTo>
                    <a:pt x="118745" y="12700"/>
                  </a:lnTo>
                  <a:lnTo>
                    <a:pt x="118745" y="6350"/>
                  </a:lnTo>
                  <a:lnTo>
                    <a:pt x="118745" y="12700"/>
                  </a:lnTo>
                  <a:cubicBezTo>
                    <a:pt x="60198" y="12700"/>
                    <a:pt x="12700" y="59944"/>
                    <a:pt x="12700" y="117983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893226" y="3953466"/>
            <a:ext cx="2741114" cy="36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80:20 Split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93226" y="4417066"/>
            <a:ext cx="6929142" cy="30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Train-validation partition for robust evaluation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84419" y="5074148"/>
            <a:ext cx="2896200" cy="36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Preprocessing Pipeline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684419" y="5593404"/>
            <a:ext cx="7346756" cy="3891258"/>
            <a:chOff x="0" y="0"/>
            <a:chExt cx="9795675" cy="5188344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9795637" cy="5188331"/>
            </a:xfrm>
            <a:custGeom>
              <a:avLst/>
              <a:gdLst/>
              <a:ahLst/>
              <a:cxnLst/>
              <a:rect r="r" b="b" t="t" l="l"/>
              <a:pathLst>
                <a:path h="5188331" w="9795637">
                  <a:moveTo>
                    <a:pt x="0" y="0"/>
                  </a:moveTo>
                  <a:lnTo>
                    <a:pt x="9795637" y="0"/>
                  </a:lnTo>
                  <a:lnTo>
                    <a:pt x="9795637" y="5188331"/>
                  </a:lnTo>
                  <a:lnTo>
                    <a:pt x="0" y="5188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7" r="0" b="-78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572463" y="8355435"/>
            <a:ext cx="1945624" cy="26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5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Resize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72463" y="8688829"/>
            <a:ext cx="1945624" cy="3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224×224 px uniform resizing.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62022" y="6060634"/>
            <a:ext cx="1945624" cy="26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5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Normalize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62022" y="6394037"/>
            <a:ext cx="1945624" cy="3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Scale by dataset mean and std.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221529" y="6060634"/>
            <a:ext cx="1945624" cy="26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5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Augment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21529" y="6394037"/>
            <a:ext cx="1945624" cy="3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Flip, rotate and random crop.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07738" y="8355559"/>
            <a:ext cx="1945624" cy="26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5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Split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07738" y="8688953"/>
            <a:ext cx="1945624" cy="3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80% train and 20% validation.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8978" y="610495"/>
            <a:ext cx="12153452" cy="82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48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Model Architecture: Fine-Tuned ResNet-18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48978" y="1907086"/>
            <a:ext cx="7519245" cy="7519245"/>
            <a:chOff x="0" y="0"/>
            <a:chExt cx="10025659" cy="1002565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025634" cy="10025634"/>
            </a:xfrm>
            <a:custGeom>
              <a:avLst/>
              <a:gdLst/>
              <a:ahLst/>
              <a:cxnLst/>
              <a:rect r="r" b="b" t="t" l="l"/>
              <a:pathLst>
                <a:path h="10025634" w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48978" y="1907086"/>
            <a:ext cx="7519245" cy="7519245"/>
            <a:chOff x="0" y="0"/>
            <a:chExt cx="10025659" cy="1002565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025634" cy="10025634"/>
            </a:xfrm>
            <a:custGeom>
              <a:avLst/>
              <a:gdLst/>
              <a:ahLst/>
              <a:cxnLst/>
              <a:rect r="r" b="b" t="t" l="l"/>
              <a:pathLst>
                <a:path h="10025634" w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429007" y="2720873"/>
            <a:ext cx="3324225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Training Configuration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14720" y="3325711"/>
            <a:ext cx="3698234" cy="2711653"/>
            <a:chOff x="0" y="0"/>
            <a:chExt cx="4930978" cy="36155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4892802" cy="3577336"/>
            </a:xfrm>
            <a:custGeom>
              <a:avLst/>
              <a:gdLst/>
              <a:ahLst/>
              <a:cxnLst/>
              <a:rect r="r" b="b" t="t" l="l"/>
              <a:pathLst>
                <a:path h="3577336" w="4892802">
                  <a:moveTo>
                    <a:pt x="0" y="126492"/>
                  </a:moveTo>
                  <a:cubicBezTo>
                    <a:pt x="0" y="56642"/>
                    <a:pt x="56769" y="0"/>
                    <a:pt x="126873" y="0"/>
                  </a:cubicBezTo>
                  <a:lnTo>
                    <a:pt x="4765929" y="0"/>
                  </a:lnTo>
                  <a:cubicBezTo>
                    <a:pt x="4836033" y="0"/>
                    <a:pt x="4892802" y="56642"/>
                    <a:pt x="4892802" y="126492"/>
                  </a:cubicBezTo>
                  <a:lnTo>
                    <a:pt x="4892802" y="3450844"/>
                  </a:lnTo>
                  <a:cubicBezTo>
                    <a:pt x="4892802" y="3520694"/>
                    <a:pt x="4836033" y="3577336"/>
                    <a:pt x="4765929" y="3577336"/>
                  </a:cubicBezTo>
                  <a:lnTo>
                    <a:pt x="126873" y="3577336"/>
                  </a:lnTo>
                  <a:cubicBezTo>
                    <a:pt x="56769" y="3577336"/>
                    <a:pt x="0" y="3520694"/>
                    <a:pt x="0" y="3450844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30902" cy="3615436"/>
            </a:xfrm>
            <a:custGeom>
              <a:avLst/>
              <a:gdLst/>
              <a:ahLst/>
              <a:cxnLst/>
              <a:rect r="r" b="b" t="t" l="l"/>
              <a:pathLst>
                <a:path h="3615436" w="4930902">
                  <a:moveTo>
                    <a:pt x="0" y="145542"/>
                  </a:moveTo>
                  <a:cubicBezTo>
                    <a:pt x="0" y="65151"/>
                    <a:pt x="65405" y="0"/>
                    <a:pt x="145923" y="0"/>
                  </a:cubicBezTo>
                  <a:lnTo>
                    <a:pt x="4784979" y="0"/>
                  </a:lnTo>
                  <a:lnTo>
                    <a:pt x="4784979" y="19050"/>
                  </a:lnTo>
                  <a:lnTo>
                    <a:pt x="4784979" y="0"/>
                  </a:lnTo>
                  <a:cubicBezTo>
                    <a:pt x="4865497" y="0"/>
                    <a:pt x="4930902" y="65151"/>
                    <a:pt x="4930902" y="145542"/>
                  </a:cubicBezTo>
                  <a:lnTo>
                    <a:pt x="4911852" y="145542"/>
                  </a:lnTo>
                  <a:lnTo>
                    <a:pt x="4930902" y="145542"/>
                  </a:lnTo>
                  <a:lnTo>
                    <a:pt x="4930902" y="3469894"/>
                  </a:lnTo>
                  <a:lnTo>
                    <a:pt x="4911852" y="3469894"/>
                  </a:lnTo>
                  <a:lnTo>
                    <a:pt x="4930902" y="3469894"/>
                  </a:lnTo>
                  <a:cubicBezTo>
                    <a:pt x="4930902" y="3550412"/>
                    <a:pt x="4865497" y="3615436"/>
                    <a:pt x="4784979" y="3615436"/>
                  </a:cubicBezTo>
                  <a:lnTo>
                    <a:pt x="4784979" y="3596386"/>
                  </a:lnTo>
                  <a:lnTo>
                    <a:pt x="4784979" y="3615436"/>
                  </a:lnTo>
                  <a:lnTo>
                    <a:pt x="145923" y="3615436"/>
                  </a:lnTo>
                  <a:lnTo>
                    <a:pt x="145923" y="3596386"/>
                  </a:lnTo>
                  <a:lnTo>
                    <a:pt x="145923" y="3615436"/>
                  </a:lnTo>
                  <a:cubicBezTo>
                    <a:pt x="65405" y="3615563"/>
                    <a:pt x="0" y="3550412"/>
                    <a:pt x="0" y="3469894"/>
                  </a:cubicBezTo>
                  <a:lnTo>
                    <a:pt x="0" y="145542"/>
                  </a:lnTo>
                  <a:lnTo>
                    <a:pt x="19050" y="145542"/>
                  </a:lnTo>
                  <a:lnTo>
                    <a:pt x="0" y="145542"/>
                  </a:lnTo>
                  <a:moveTo>
                    <a:pt x="38100" y="145542"/>
                  </a:moveTo>
                  <a:lnTo>
                    <a:pt x="38100" y="3469894"/>
                  </a:lnTo>
                  <a:lnTo>
                    <a:pt x="19050" y="3469894"/>
                  </a:lnTo>
                  <a:lnTo>
                    <a:pt x="38100" y="3469894"/>
                  </a:lnTo>
                  <a:cubicBezTo>
                    <a:pt x="38100" y="3529203"/>
                    <a:pt x="86360" y="3577336"/>
                    <a:pt x="145923" y="3577336"/>
                  </a:cubicBezTo>
                  <a:lnTo>
                    <a:pt x="4784979" y="3577336"/>
                  </a:lnTo>
                  <a:cubicBezTo>
                    <a:pt x="4844542" y="3577336"/>
                    <a:pt x="4892802" y="3529203"/>
                    <a:pt x="4892802" y="3469894"/>
                  </a:cubicBezTo>
                  <a:lnTo>
                    <a:pt x="4892802" y="145542"/>
                  </a:lnTo>
                  <a:cubicBezTo>
                    <a:pt x="4892802" y="86233"/>
                    <a:pt x="4844542" y="38100"/>
                    <a:pt x="4784979" y="38100"/>
                  </a:cubicBezTo>
                  <a:lnTo>
                    <a:pt x="145923" y="38100"/>
                  </a:lnTo>
                  <a:lnTo>
                    <a:pt x="145923" y="19050"/>
                  </a:lnTo>
                  <a:lnTo>
                    <a:pt x="145923" y="38100"/>
                  </a:lnTo>
                  <a:cubicBezTo>
                    <a:pt x="86360" y="38100"/>
                    <a:pt x="38100" y="86233"/>
                    <a:pt x="38100" y="145542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457582" y="3368573"/>
            <a:ext cx="3612509" cy="677761"/>
            <a:chOff x="0" y="0"/>
            <a:chExt cx="4816678" cy="9036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602" cy="903605"/>
            </a:xfrm>
            <a:custGeom>
              <a:avLst/>
              <a:gdLst/>
              <a:ahLst/>
              <a:cxnLst/>
              <a:rect r="r" b="b" t="t" l="l"/>
              <a:pathLst>
                <a:path h="903605" w="4816602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lnTo>
                    <a:pt x="4735830" y="0"/>
                  </a:lnTo>
                  <a:cubicBezTo>
                    <a:pt x="4780407" y="0"/>
                    <a:pt x="4816602" y="36195"/>
                    <a:pt x="4816602" y="80772"/>
                  </a:cubicBezTo>
                  <a:lnTo>
                    <a:pt x="4816602" y="822833"/>
                  </a:lnTo>
                  <a:cubicBezTo>
                    <a:pt x="4816602" y="867410"/>
                    <a:pt x="4780407" y="903605"/>
                    <a:pt x="4735830" y="903605"/>
                  </a:cubicBezTo>
                  <a:lnTo>
                    <a:pt x="80772" y="903605"/>
                  </a:lnTo>
                  <a:cubicBezTo>
                    <a:pt x="36195" y="903732"/>
                    <a:pt x="0" y="867537"/>
                    <a:pt x="0" y="822833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1094396" y="3533184"/>
            <a:ext cx="338880" cy="338880"/>
          </a:xfrm>
          <a:custGeom>
            <a:avLst/>
            <a:gdLst/>
            <a:ahLst/>
            <a:cxnLst/>
            <a:rect r="r" b="b" t="t" l="l"/>
            <a:pathLst>
              <a:path h="338880" w="338880">
                <a:moveTo>
                  <a:pt x="0" y="0"/>
                </a:moveTo>
                <a:lnTo>
                  <a:pt x="338881" y="0"/>
                </a:lnTo>
                <a:lnTo>
                  <a:pt x="338881" y="338881"/>
                </a:lnTo>
                <a:lnTo>
                  <a:pt x="0" y="338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83506" y="4197696"/>
            <a:ext cx="3106636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Adam Optimizer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83506" y="4756252"/>
            <a:ext cx="3160662" cy="101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Adaptive learning with momentum for stable convergence.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264305" y="3325711"/>
            <a:ext cx="3698234" cy="2711653"/>
            <a:chOff x="0" y="0"/>
            <a:chExt cx="4930978" cy="36155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4892802" cy="3577336"/>
            </a:xfrm>
            <a:custGeom>
              <a:avLst/>
              <a:gdLst/>
              <a:ahLst/>
              <a:cxnLst/>
              <a:rect r="r" b="b" t="t" l="l"/>
              <a:pathLst>
                <a:path h="3577336" w="4892802">
                  <a:moveTo>
                    <a:pt x="0" y="126492"/>
                  </a:moveTo>
                  <a:cubicBezTo>
                    <a:pt x="0" y="56642"/>
                    <a:pt x="56769" y="0"/>
                    <a:pt x="126873" y="0"/>
                  </a:cubicBezTo>
                  <a:lnTo>
                    <a:pt x="4765929" y="0"/>
                  </a:lnTo>
                  <a:cubicBezTo>
                    <a:pt x="4836033" y="0"/>
                    <a:pt x="4892802" y="56642"/>
                    <a:pt x="4892802" y="126492"/>
                  </a:cubicBezTo>
                  <a:lnTo>
                    <a:pt x="4892802" y="3450844"/>
                  </a:lnTo>
                  <a:cubicBezTo>
                    <a:pt x="4892802" y="3520694"/>
                    <a:pt x="4836033" y="3577336"/>
                    <a:pt x="4765929" y="3577336"/>
                  </a:cubicBezTo>
                  <a:lnTo>
                    <a:pt x="126873" y="3577336"/>
                  </a:lnTo>
                  <a:cubicBezTo>
                    <a:pt x="56769" y="3577336"/>
                    <a:pt x="0" y="3520694"/>
                    <a:pt x="0" y="3450844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30902" cy="3615436"/>
            </a:xfrm>
            <a:custGeom>
              <a:avLst/>
              <a:gdLst/>
              <a:ahLst/>
              <a:cxnLst/>
              <a:rect r="r" b="b" t="t" l="l"/>
              <a:pathLst>
                <a:path h="3615436" w="4930902">
                  <a:moveTo>
                    <a:pt x="0" y="145542"/>
                  </a:moveTo>
                  <a:cubicBezTo>
                    <a:pt x="0" y="65151"/>
                    <a:pt x="65405" y="0"/>
                    <a:pt x="145923" y="0"/>
                  </a:cubicBezTo>
                  <a:lnTo>
                    <a:pt x="4784979" y="0"/>
                  </a:lnTo>
                  <a:lnTo>
                    <a:pt x="4784979" y="19050"/>
                  </a:lnTo>
                  <a:lnTo>
                    <a:pt x="4784979" y="0"/>
                  </a:lnTo>
                  <a:cubicBezTo>
                    <a:pt x="4865497" y="0"/>
                    <a:pt x="4930902" y="65151"/>
                    <a:pt x="4930902" y="145542"/>
                  </a:cubicBezTo>
                  <a:lnTo>
                    <a:pt x="4911852" y="145542"/>
                  </a:lnTo>
                  <a:lnTo>
                    <a:pt x="4930902" y="145542"/>
                  </a:lnTo>
                  <a:lnTo>
                    <a:pt x="4930902" y="3469894"/>
                  </a:lnTo>
                  <a:lnTo>
                    <a:pt x="4911852" y="3469894"/>
                  </a:lnTo>
                  <a:lnTo>
                    <a:pt x="4930902" y="3469894"/>
                  </a:lnTo>
                  <a:cubicBezTo>
                    <a:pt x="4930902" y="3550412"/>
                    <a:pt x="4865497" y="3615436"/>
                    <a:pt x="4784979" y="3615436"/>
                  </a:cubicBezTo>
                  <a:lnTo>
                    <a:pt x="4784979" y="3596386"/>
                  </a:lnTo>
                  <a:lnTo>
                    <a:pt x="4784979" y="3615436"/>
                  </a:lnTo>
                  <a:lnTo>
                    <a:pt x="145923" y="3615436"/>
                  </a:lnTo>
                  <a:lnTo>
                    <a:pt x="145923" y="3596386"/>
                  </a:lnTo>
                  <a:lnTo>
                    <a:pt x="145923" y="3615436"/>
                  </a:lnTo>
                  <a:cubicBezTo>
                    <a:pt x="65405" y="3615563"/>
                    <a:pt x="0" y="3550412"/>
                    <a:pt x="0" y="3469894"/>
                  </a:cubicBezTo>
                  <a:lnTo>
                    <a:pt x="0" y="145542"/>
                  </a:lnTo>
                  <a:lnTo>
                    <a:pt x="19050" y="145542"/>
                  </a:lnTo>
                  <a:lnTo>
                    <a:pt x="0" y="145542"/>
                  </a:lnTo>
                  <a:moveTo>
                    <a:pt x="38100" y="145542"/>
                  </a:moveTo>
                  <a:lnTo>
                    <a:pt x="38100" y="3469894"/>
                  </a:lnTo>
                  <a:lnTo>
                    <a:pt x="19050" y="3469894"/>
                  </a:lnTo>
                  <a:lnTo>
                    <a:pt x="38100" y="3469894"/>
                  </a:lnTo>
                  <a:cubicBezTo>
                    <a:pt x="38100" y="3529203"/>
                    <a:pt x="86360" y="3577336"/>
                    <a:pt x="145923" y="3577336"/>
                  </a:cubicBezTo>
                  <a:lnTo>
                    <a:pt x="4784979" y="3577336"/>
                  </a:lnTo>
                  <a:cubicBezTo>
                    <a:pt x="4844542" y="3577336"/>
                    <a:pt x="4892802" y="3529203"/>
                    <a:pt x="4892802" y="3469894"/>
                  </a:cubicBezTo>
                  <a:lnTo>
                    <a:pt x="4892802" y="145542"/>
                  </a:lnTo>
                  <a:cubicBezTo>
                    <a:pt x="4892802" y="86233"/>
                    <a:pt x="4844542" y="38100"/>
                    <a:pt x="4784979" y="38100"/>
                  </a:cubicBezTo>
                  <a:lnTo>
                    <a:pt x="145923" y="38100"/>
                  </a:lnTo>
                  <a:lnTo>
                    <a:pt x="145923" y="19050"/>
                  </a:lnTo>
                  <a:lnTo>
                    <a:pt x="145923" y="38100"/>
                  </a:lnTo>
                  <a:cubicBezTo>
                    <a:pt x="86360" y="38100"/>
                    <a:pt x="38100" y="86233"/>
                    <a:pt x="38100" y="145542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07168" y="3368573"/>
            <a:ext cx="3612509" cy="677761"/>
            <a:chOff x="0" y="0"/>
            <a:chExt cx="4816678" cy="9036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16602" cy="903605"/>
            </a:xfrm>
            <a:custGeom>
              <a:avLst/>
              <a:gdLst/>
              <a:ahLst/>
              <a:cxnLst/>
              <a:rect r="r" b="b" t="t" l="l"/>
              <a:pathLst>
                <a:path h="903605" w="4816602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lnTo>
                    <a:pt x="4735830" y="0"/>
                  </a:lnTo>
                  <a:cubicBezTo>
                    <a:pt x="4780407" y="0"/>
                    <a:pt x="4816602" y="36195"/>
                    <a:pt x="4816602" y="80772"/>
                  </a:cubicBezTo>
                  <a:lnTo>
                    <a:pt x="4816602" y="822833"/>
                  </a:lnTo>
                  <a:cubicBezTo>
                    <a:pt x="4816602" y="867410"/>
                    <a:pt x="4780407" y="903605"/>
                    <a:pt x="4735830" y="903605"/>
                  </a:cubicBezTo>
                  <a:lnTo>
                    <a:pt x="80772" y="903605"/>
                  </a:lnTo>
                  <a:cubicBezTo>
                    <a:pt x="36195" y="903732"/>
                    <a:pt x="0" y="867537"/>
                    <a:pt x="0" y="822833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4943982" y="3533184"/>
            <a:ext cx="338880" cy="338880"/>
          </a:xfrm>
          <a:custGeom>
            <a:avLst/>
            <a:gdLst/>
            <a:ahLst/>
            <a:cxnLst/>
            <a:rect r="r" b="b" t="t" l="l"/>
            <a:pathLst>
              <a:path h="338880" w="338880">
                <a:moveTo>
                  <a:pt x="0" y="0"/>
                </a:moveTo>
                <a:lnTo>
                  <a:pt x="338880" y="0"/>
                </a:lnTo>
                <a:lnTo>
                  <a:pt x="338880" y="338881"/>
                </a:lnTo>
                <a:lnTo>
                  <a:pt x="0" y="3388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165" t="0" r="-4168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533091" y="4197696"/>
            <a:ext cx="3106636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LR: 0.001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33091" y="4756252"/>
            <a:ext cx="3160662" cy="101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Conservative learning rate prevents overfitting on fine-tuning.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14720" y="6188716"/>
            <a:ext cx="3698234" cy="2386908"/>
            <a:chOff x="0" y="0"/>
            <a:chExt cx="4930978" cy="31825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4892929" cy="3144393"/>
            </a:xfrm>
            <a:custGeom>
              <a:avLst/>
              <a:gdLst/>
              <a:ahLst/>
              <a:cxnLst/>
              <a:rect r="r" b="b" t="t" l="l"/>
              <a:pathLst>
                <a:path h="3144393" w="4892929">
                  <a:moveTo>
                    <a:pt x="0" y="126492"/>
                  </a:moveTo>
                  <a:cubicBezTo>
                    <a:pt x="0" y="56642"/>
                    <a:pt x="56896" y="0"/>
                    <a:pt x="127127" y="0"/>
                  </a:cubicBezTo>
                  <a:lnTo>
                    <a:pt x="4765802" y="0"/>
                  </a:lnTo>
                  <a:cubicBezTo>
                    <a:pt x="4836033" y="0"/>
                    <a:pt x="4892929" y="56642"/>
                    <a:pt x="4892929" y="126492"/>
                  </a:cubicBezTo>
                  <a:lnTo>
                    <a:pt x="4892929" y="3017901"/>
                  </a:lnTo>
                  <a:cubicBezTo>
                    <a:pt x="4892929" y="3087751"/>
                    <a:pt x="4836033" y="3144393"/>
                    <a:pt x="4765802" y="3144393"/>
                  </a:cubicBezTo>
                  <a:lnTo>
                    <a:pt x="127127" y="3144393"/>
                  </a:lnTo>
                  <a:cubicBezTo>
                    <a:pt x="56896" y="3144393"/>
                    <a:pt x="0" y="3087751"/>
                    <a:pt x="0" y="3017901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029" cy="3182493"/>
            </a:xfrm>
            <a:custGeom>
              <a:avLst/>
              <a:gdLst/>
              <a:ahLst/>
              <a:cxnLst/>
              <a:rect r="r" b="b" t="t" l="l"/>
              <a:pathLst>
                <a:path h="3182493" w="4931029">
                  <a:moveTo>
                    <a:pt x="0" y="145542"/>
                  </a:moveTo>
                  <a:cubicBezTo>
                    <a:pt x="0" y="65151"/>
                    <a:pt x="65532" y="0"/>
                    <a:pt x="146177" y="0"/>
                  </a:cubicBezTo>
                  <a:lnTo>
                    <a:pt x="4784852" y="0"/>
                  </a:lnTo>
                  <a:lnTo>
                    <a:pt x="4784852" y="19050"/>
                  </a:lnTo>
                  <a:lnTo>
                    <a:pt x="4784852" y="0"/>
                  </a:lnTo>
                  <a:cubicBezTo>
                    <a:pt x="4865497" y="0"/>
                    <a:pt x="4931029" y="65151"/>
                    <a:pt x="4931029" y="145542"/>
                  </a:cubicBezTo>
                  <a:lnTo>
                    <a:pt x="4911979" y="145542"/>
                  </a:lnTo>
                  <a:lnTo>
                    <a:pt x="4931029" y="145542"/>
                  </a:lnTo>
                  <a:lnTo>
                    <a:pt x="4931029" y="3036951"/>
                  </a:lnTo>
                  <a:lnTo>
                    <a:pt x="4911979" y="3036951"/>
                  </a:lnTo>
                  <a:lnTo>
                    <a:pt x="4931029" y="3036951"/>
                  </a:lnTo>
                  <a:cubicBezTo>
                    <a:pt x="4931029" y="3117469"/>
                    <a:pt x="4865497" y="3182493"/>
                    <a:pt x="4784852" y="3182493"/>
                  </a:cubicBezTo>
                  <a:lnTo>
                    <a:pt x="4784852" y="3163443"/>
                  </a:lnTo>
                  <a:lnTo>
                    <a:pt x="4784852" y="3182493"/>
                  </a:lnTo>
                  <a:lnTo>
                    <a:pt x="146177" y="3182493"/>
                  </a:lnTo>
                  <a:lnTo>
                    <a:pt x="146177" y="3163443"/>
                  </a:lnTo>
                  <a:lnTo>
                    <a:pt x="146177" y="3182493"/>
                  </a:lnTo>
                  <a:cubicBezTo>
                    <a:pt x="65532" y="3182493"/>
                    <a:pt x="0" y="3117469"/>
                    <a:pt x="0" y="3036951"/>
                  </a:cubicBezTo>
                  <a:lnTo>
                    <a:pt x="0" y="145542"/>
                  </a:lnTo>
                  <a:lnTo>
                    <a:pt x="19050" y="145542"/>
                  </a:lnTo>
                  <a:lnTo>
                    <a:pt x="0" y="145542"/>
                  </a:lnTo>
                  <a:moveTo>
                    <a:pt x="38100" y="145542"/>
                  </a:moveTo>
                  <a:lnTo>
                    <a:pt x="38100" y="3036951"/>
                  </a:lnTo>
                  <a:lnTo>
                    <a:pt x="19050" y="3036951"/>
                  </a:lnTo>
                  <a:lnTo>
                    <a:pt x="38100" y="3036951"/>
                  </a:lnTo>
                  <a:cubicBezTo>
                    <a:pt x="38100" y="3096260"/>
                    <a:pt x="86360" y="3144393"/>
                    <a:pt x="146177" y="3144393"/>
                  </a:cubicBezTo>
                  <a:lnTo>
                    <a:pt x="4784852" y="3144393"/>
                  </a:lnTo>
                  <a:cubicBezTo>
                    <a:pt x="4844542" y="3144393"/>
                    <a:pt x="4892929" y="3096133"/>
                    <a:pt x="4892929" y="3036951"/>
                  </a:cubicBezTo>
                  <a:lnTo>
                    <a:pt x="4892929" y="145542"/>
                  </a:lnTo>
                  <a:cubicBezTo>
                    <a:pt x="4892929" y="86233"/>
                    <a:pt x="4844669" y="38100"/>
                    <a:pt x="4784852" y="38100"/>
                  </a:cubicBezTo>
                  <a:lnTo>
                    <a:pt x="146177" y="38100"/>
                  </a:lnTo>
                  <a:lnTo>
                    <a:pt x="146177" y="19050"/>
                  </a:lnTo>
                  <a:lnTo>
                    <a:pt x="146177" y="38100"/>
                  </a:lnTo>
                  <a:cubicBezTo>
                    <a:pt x="86360" y="38100"/>
                    <a:pt x="38100" y="86360"/>
                    <a:pt x="38100" y="145542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57582" y="6231579"/>
            <a:ext cx="3612509" cy="677761"/>
            <a:chOff x="0" y="0"/>
            <a:chExt cx="4816678" cy="9036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16602" cy="903605"/>
            </a:xfrm>
            <a:custGeom>
              <a:avLst/>
              <a:gdLst/>
              <a:ahLst/>
              <a:cxnLst/>
              <a:rect r="r" b="b" t="t" l="l"/>
              <a:pathLst>
                <a:path h="903605" w="4816602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lnTo>
                    <a:pt x="4735830" y="0"/>
                  </a:lnTo>
                  <a:cubicBezTo>
                    <a:pt x="4780407" y="0"/>
                    <a:pt x="4816602" y="36195"/>
                    <a:pt x="4816602" y="80772"/>
                  </a:cubicBezTo>
                  <a:lnTo>
                    <a:pt x="4816602" y="822833"/>
                  </a:lnTo>
                  <a:cubicBezTo>
                    <a:pt x="4816602" y="867410"/>
                    <a:pt x="4780407" y="903605"/>
                    <a:pt x="4735830" y="903605"/>
                  </a:cubicBezTo>
                  <a:lnTo>
                    <a:pt x="80772" y="903605"/>
                  </a:lnTo>
                  <a:cubicBezTo>
                    <a:pt x="36195" y="903732"/>
                    <a:pt x="0" y="867537"/>
                    <a:pt x="0" y="822833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11094396" y="6396190"/>
            <a:ext cx="338880" cy="338880"/>
          </a:xfrm>
          <a:custGeom>
            <a:avLst/>
            <a:gdLst/>
            <a:ahLst/>
            <a:cxnLst/>
            <a:rect r="r" b="b" t="t" l="l"/>
            <a:pathLst>
              <a:path h="338880" w="338880">
                <a:moveTo>
                  <a:pt x="0" y="0"/>
                </a:moveTo>
                <a:lnTo>
                  <a:pt x="338881" y="0"/>
                </a:lnTo>
                <a:lnTo>
                  <a:pt x="338881" y="338880"/>
                </a:lnTo>
                <a:lnTo>
                  <a:pt x="0" y="3388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88" t="0" r="-1388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683506" y="7060702"/>
            <a:ext cx="3106636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Batch Size: 32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83506" y="7619257"/>
            <a:ext cx="3160662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Balanced memory efficiency and gradient stability.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264305" y="6188716"/>
            <a:ext cx="3698234" cy="2386908"/>
            <a:chOff x="0" y="0"/>
            <a:chExt cx="4930978" cy="31825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9050" y="19050"/>
              <a:ext cx="4892929" cy="3144393"/>
            </a:xfrm>
            <a:custGeom>
              <a:avLst/>
              <a:gdLst/>
              <a:ahLst/>
              <a:cxnLst/>
              <a:rect r="r" b="b" t="t" l="l"/>
              <a:pathLst>
                <a:path h="3144393" w="4892929">
                  <a:moveTo>
                    <a:pt x="0" y="126492"/>
                  </a:moveTo>
                  <a:cubicBezTo>
                    <a:pt x="0" y="56642"/>
                    <a:pt x="56896" y="0"/>
                    <a:pt x="127127" y="0"/>
                  </a:cubicBezTo>
                  <a:lnTo>
                    <a:pt x="4765802" y="0"/>
                  </a:lnTo>
                  <a:cubicBezTo>
                    <a:pt x="4836033" y="0"/>
                    <a:pt x="4892929" y="56642"/>
                    <a:pt x="4892929" y="126492"/>
                  </a:cubicBezTo>
                  <a:lnTo>
                    <a:pt x="4892929" y="3017901"/>
                  </a:lnTo>
                  <a:cubicBezTo>
                    <a:pt x="4892929" y="3087751"/>
                    <a:pt x="4836033" y="3144393"/>
                    <a:pt x="4765802" y="3144393"/>
                  </a:cubicBezTo>
                  <a:lnTo>
                    <a:pt x="127127" y="3144393"/>
                  </a:lnTo>
                  <a:cubicBezTo>
                    <a:pt x="56896" y="3144393"/>
                    <a:pt x="0" y="3087751"/>
                    <a:pt x="0" y="3017901"/>
                  </a:cubicBezTo>
                  <a:close/>
                </a:path>
              </a:pathLst>
            </a:custGeom>
            <a:solidFill>
              <a:srgbClr val="FDFAF7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31029" cy="3182493"/>
            </a:xfrm>
            <a:custGeom>
              <a:avLst/>
              <a:gdLst/>
              <a:ahLst/>
              <a:cxnLst/>
              <a:rect r="r" b="b" t="t" l="l"/>
              <a:pathLst>
                <a:path h="3182493" w="4931029">
                  <a:moveTo>
                    <a:pt x="0" y="145542"/>
                  </a:moveTo>
                  <a:cubicBezTo>
                    <a:pt x="0" y="65151"/>
                    <a:pt x="65532" y="0"/>
                    <a:pt x="146177" y="0"/>
                  </a:cubicBezTo>
                  <a:lnTo>
                    <a:pt x="4784852" y="0"/>
                  </a:lnTo>
                  <a:lnTo>
                    <a:pt x="4784852" y="19050"/>
                  </a:lnTo>
                  <a:lnTo>
                    <a:pt x="4784852" y="0"/>
                  </a:lnTo>
                  <a:cubicBezTo>
                    <a:pt x="4865497" y="0"/>
                    <a:pt x="4931029" y="65151"/>
                    <a:pt x="4931029" y="145542"/>
                  </a:cubicBezTo>
                  <a:lnTo>
                    <a:pt x="4911979" y="145542"/>
                  </a:lnTo>
                  <a:lnTo>
                    <a:pt x="4931029" y="145542"/>
                  </a:lnTo>
                  <a:lnTo>
                    <a:pt x="4931029" y="3036951"/>
                  </a:lnTo>
                  <a:lnTo>
                    <a:pt x="4911979" y="3036951"/>
                  </a:lnTo>
                  <a:lnTo>
                    <a:pt x="4931029" y="3036951"/>
                  </a:lnTo>
                  <a:cubicBezTo>
                    <a:pt x="4931029" y="3117469"/>
                    <a:pt x="4865497" y="3182493"/>
                    <a:pt x="4784852" y="3182493"/>
                  </a:cubicBezTo>
                  <a:lnTo>
                    <a:pt x="4784852" y="3163443"/>
                  </a:lnTo>
                  <a:lnTo>
                    <a:pt x="4784852" y="3182493"/>
                  </a:lnTo>
                  <a:lnTo>
                    <a:pt x="146177" y="3182493"/>
                  </a:lnTo>
                  <a:lnTo>
                    <a:pt x="146177" y="3163443"/>
                  </a:lnTo>
                  <a:lnTo>
                    <a:pt x="146177" y="3182493"/>
                  </a:lnTo>
                  <a:cubicBezTo>
                    <a:pt x="65532" y="3182493"/>
                    <a:pt x="0" y="3117469"/>
                    <a:pt x="0" y="3036951"/>
                  </a:cubicBezTo>
                  <a:lnTo>
                    <a:pt x="0" y="145542"/>
                  </a:lnTo>
                  <a:lnTo>
                    <a:pt x="19050" y="145542"/>
                  </a:lnTo>
                  <a:lnTo>
                    <a:pt x="0" y="145542"/>
                  </a:lnTo>
                  <a:moveTo>
                    <a:pt x="38100" y="145542"/>
                  </a:moveTo>
                  <a:lnTo>
                    <a:pt x="38100" y="3036951"/>
                  </a:lnTo>
                  <a:lnTo>
                    <a:pt x="19050" y="3036951"/>
                  </a:lnTo>
                  <a:lnTo>
                    <a:pt x="38100" y="3036951"/>
                  </a:lnTo>
                  <a:cubicBezTo>
                    <a:pt x="38100" y="3096260"/>
                    <a:pt x="86360" y="3144393"/>
                    <a:pt x="146177" y="3144393"/>
                  </a:cubicBezTo>
                  <a:lnTo>
                    <a:pt x="4784852" y="3144393"/>
                  </a:lnTo>
                  <a:cubicBezTo>
                    <a:pt x="4844542" y="3144393"/>
                    <a:pt x="4892929" y="3096133"/>
                    <a:pt x="4892929" y="3036951"/>
                  </a:cubicBezTo>
                  <a:lnTo>
                    <a:pt x="4892929" y="145542"/>
                  </a:lnTo>
                  <a:cubicBezTo>
                    <a:pt x="4892929" y="86233"/>
                    <a:pt x="4844669" y="38100"/>
                    <a:pt x="4784852" y="38100"/>
                  </a:cubicBezTo>
                  <a:lnTo>
                    <a:pt x="146177" y="38100"/>
                  </a:lnTo>
                  <a:lnTo>
                    <a:pt x="146177" y="19050"/>
                  </a:lnTo>
                  <a:lnTo>
                    <a:pt x="146177" y="38100"/>
                  </a:lnTo>
                  <a:cubicBezTo>
                    <a:pt x="86360" y="38100"/>
                    <a:pt x="38100" y="86360"/>
                    <a:pt x="38100" y="145542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307168" y="6231579"/>
            <a:ext cx="3612509" cy="677761"/>
            <a:chOff x="0" y="0"/>
            <a:chExt cx="4816678" cy="9036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16602" cy="903605"/>
            </a:xfrm>
            <a:custGeom>
              <a:avLst/>
              <a:gdLst/>
              <a:ahLst/>
              <a:cxnLst/>
              <a:rect r="r" b="b" t="t" l="l"/>
              <a:pathLst>
                <a:path h="903605" w="4816602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lnTo>
                    <a:pt x="4735830" y="0"/>
                  </a:lnTo>
                  <a:cubicBezTo>
                    <a:pt x="4780407" y="0"/>
                    <a:pt x="4816602" y="36195"/>
                    <a:pt x="4816602" y="80772"/>
                  </a:cubicBezTo>
                  <a:lnTo>
                    <a:pt x="4816602" y="822833"/>
                  </a:lnTo>
                  <a:cubicBezTo>
                    <a:pt x="4816602" y="867410"/>
                    <a:pt x="4780407" y="903605"/>
                    <a:pt x="4735830" y="903605"/>
                  </a:cubicBezTo>
                  <a:lnTo>
                    <a:pt x="80772" y="903605"/>
                  </a:lnTo>
                  <a:cubicBezTo>
                    <a:pt x="36195" y="903732"/>
                    <a:pt x="0" y="867537"/>
                    <a:pt x="0" y="822833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Freeform 41" id="41" descr="preencoded.png"/>
          <p:cNvSpPr/>
          <p:nvPr/>
        </p:nvSpPr>
        <p:spPr>
          <a:xfrm flipH="false" flipV="false" rot="0">
            <a:off x="14943982" y="6396190"/>
            <a:ext cx="338880" cy="338880"/>
          </a:xfrm>
          <a:custGeom>
            <a:avLst/>
            <a:gdLst/>
            <a:ahLst/>
            <a:cxnLst/>
            <a:rect r="r" b="b" t="t" l="l"/>
            <a:pathLst>
              <a:path h="338880" w="338880">
                <a:moveTo>
                  <a:pt x="0" y="0"/>
                </a:moveTo>
                <a:lnTo>
                  <a:pt x="338880" y="0"/>
                </a:lnTo>
                <a:lnTo>
                  <a:pt x="338880" y="338880"/>
                </a:lnTo>
                <a:lnTo>
                  <a:pt x="0" y="338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3533091" y="7060702"/>
            <a:ext cx="3106636" cy="416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Cross-Entropy Loss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533091" y="7619257"/>
            <a:ext cx="3160662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Standard multi-class classification objective.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079306"/>
            <a:ext cx="9445523" cy="198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61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System Workflow &amp; Gemini AI Integration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0238" y="3491655"/>
            <a:ext cx="9445523" cy="3544338"/>
            <a:chOff x="0" y="0"/>
            <a:chExt cx="12594031" cy="472578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2594082" cy="4725797"/>
            </a:xfrm>
            <a:custGeom>
              <a:avLst/>
              <a:gdLst/>
              <a:ahLst/>
              <a:cxnLst/>
              <a:rect r="r" b="b" t="t" l="l"/>
              <a:pathLst>
                <a:path h="4725797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4725797"/>
                  </a:lnTo>
                  <a:lnTo>
                    <a:pt x="0" y="4725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" t="0" r="-31" b="0"/>
              </a:stretch>
            </a:blip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5916770" y="4394464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90" y="0"/>
                </a:lnTo>
                <a:lnTo>
                  <a:pt x="487890" y="487889"/>
                </a:lnTo>
                <a:lnTo>
                  <a:pt x="0" y="487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808" t="0" r="-480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482087" y="6001388"/>
            <a:ext cx="1424645" cy="6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Streamlit Output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4130623" y="4395378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90" y="0"/>
                </a:lnTo>
                <a:lnTo>
                  <a:pt x="487890" y="487889"/>
                </a:lnTo>
                <a:lnTo>
                  <a:pt x="0" y="487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4423" r="0" b="-1442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86644" y="6152331"/>
            <a:ext cx="1424645" cy="31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Gemini AI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2344943" y="4395378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89" y="0"/>
                </a:lnTo>
                <a:lnTo>
                  <a:pt x="487889" y="487889"/>
                </a:lnTo>
                <a:lnTo>
                  <a:pt x="0" y="487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7116" r="0" b="-4711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900954" y="6152331"/>
            <a:ext cx="1424645" cy="31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ResNet-18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559253" y="4395378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90" y="0"/>
                </a:lnTo>
                <a:lnTo>
                  <a:pt x="487890" y="487889"/>
                </a:lnTo>
                <a:lnTo>
                  <a:pt x="0" y="4878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15274" y="6001388"/>
            <a:ext cx="1424645" cy="6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Preprocessing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8763810" y="4395378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89" y="0"/>
                </a:lnTo>
                <a:lnTo>
                  <a:pt x="487889" y="487889"/>
                </a:lnTo>
                <a:lnTo>
                  <a:pt x="0" y="4878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885" r="0" b="-288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290550" y="6001388"/>
            <a:ext cx="1424645" cy="6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Image Upload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0238" y="7269213"/>
            <a:ext cx="944552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Google Gemini API receives the predicted species name and generates rich botanical context — including habitat, medicinal uses, and care instructions — enhancing the application's educational value beyond simple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6760" y="753961"/>
            <a:ext cx="9337624" cy="99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Web Application &amp;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6760" y="2428723"/>
            <a:ext cx="4935741" cy="4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0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Streamlit Interface Features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8660" y="3188789"/>
            <a:ext cx="76200" cy="2159346"/>
            <a:chOff x="0" y="0"/>
            <a:chExt cx="101600" cy="2879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2879090"/>
            </a:xfrm>
            <a:custGeom>
              <a:avLst/>
              <a:gdLst/>
              <a:ahLst/>
              <a:cxnLst/>
              <a:rect r="r" b="b" t="t" l="l"/>
              <a:pathLst>
                <a:path h="287909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879090"/>
                  </a:lnTo>
                  <a:lnTo>
                    <a:pt x="0" y="2879090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32014" y="3217364"/>
            <a:ext cx="3386433" cy="4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Real-Time Upload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2014" y="3905098"/>
            <a:ext cx="3386433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Users upload a leaf image and receive instant species prediction.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023695" y="3188789"/>
            <a:ext cx="76200" cy="2159346"/>
            <a:chOff x="0" y="0"/>
            <a:chExt cx="101600" cy="2879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" cy="2879090"/>
            </a:xfrm>
            <a:custGeom>
              <a:avLst/>
              <a:gdLst/>
              <a:ahLst/>
              <a:cxnLst/>
              <a:rect r="r" b="b" t="t" l="l"/>
              <a:pathLst>
                <a:path h="287909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879090"/>
                  </a:lnTo>
                  <a:lnTo>
                    <a:pt x="0" y="2879090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17048" y="3217364"/>
            <a:ext cx="3386585" cy="4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AI-Generated Info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17048" y="3905098"/>
            <a:ext cx="3386585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Gemini API returns detailed botanical and medicinal plant profiles.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8660" y="5821413"/>
            <a:ext cx="76200" cy="2602259"/>
            <a:chOff x="0" y="0"/>
            <a:chExt cx="101600" cy="34696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3469640"/>
            </a:xfrm>
            <a:custGeom>
              <a:avLst/>
              <a:gdLst/>
              <a:ahLst/>
              <a:cxnLst/>
              <a:rect r="r" b="b" t="t" l="l"/>
              <a:pathLst>
                <a:path h="346964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469640"/>
                  </a:lnTo>
                  <a:lnTo>
                    <a:pt x="0" y="3469640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2014" y="5849988"/>
            <a:ext cx="3386433" cy="4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Confidence Scores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2014" y="6537722"/>
            <a:ext cx="338643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Softmax probabilities displayed for transparency and interpretability.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23695" y="5821413"/>
            <a:ext cx="76200" cy="2602259"/>
            <a:chOff x="0" y="0"/>
            <a:chExt cx="101600" cy="34696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" cy="3469640"/>
            </a:xfrm>
            <a:custGeom>
              <a:avLst/>
              <a:gdLst/>
              <a:ahLst/>
              <a:cxnLst/>
              <a:rect r="r" b="b" t="t" l="l"/>
              <a:pathLst>
                <a:path h="346964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469640"/>
                  </a:lnTo>
                  <a:lnTo>
                    <a:pt x="0" y="3469640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417048" y="5849988"/>
            <a:ext cx="3386585" cy="4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0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Clean UI Design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17048" y="6537722"/>
            <a:ext cx="3386585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Minimal, intuitive layout accessible to non-technical users.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93891" y="2428723"/>
            <a:ext cx="3894382" cy="4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0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Training Performance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89129" y="3222127"/>
            <a:ext cx="1528315" cy="215208"/>
            <a:chOff x="0" y="0"/>
            <a:chExt cx="2037753" cy="2869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2025142" cy="274320"/>
            </a:xfrm>
            <a:custGeom>
              <a:avLst/>
              <a:gdLst/>
              <a:ahLst/>
              <a:cxnLst/>
              <a:rect r="r" b="b" t="t" l="l"/>
              <a:pathLst>
                <a:path h="274320" w="2025142">
                  <a:moveTo>
                    <a:pt x="0" y="137160"/>
                  </a:moveTo>
                  <a:cubicBezTo>
                    <a:pt x="0" y="61341"/>
                    <a:pt x="63881" y="0"/>
                    <a:pt x="142621" y="0"/>
                  </a:cubicBezTo>
                  <a:lnTo>
                    <a:pt x="1882521" y="0"/>
                  </a:lnTo>
                  <a:cubicBezTo>
                    <a:pt x="1961261" y="0"/>
                    <a:pt x="2025142" y="61341"/>
                    <a:pt x="2025142" y="137160"/>
                  </a:cubicBezTo>
                  <a:cubicBezTo>
                    <a:pt x="2025142" y="212979"/>
                    <a:pt x="1961261" y="274320"/>
                    <a:pt x="1882521" y="274320"/>
                  </a:cubicBezTo>
                  <a:lnTo>
                    <a:pt x="142621" y="274320"/>
                  </a:lnTo>
                  <a:cubicBezTo>
                    <a:pt x="63881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37842" cy="287020"/>
            </a:xfrm>
            <a:custGeom>
              <a:avLst/>
              <a:gdLst/>
              <a:ahLst/>
              <a:cxnLst/>
              <a:rect r="r" b="b" t="t" l="l"/>
              <a:pathLst>
                <a:path h="287020" w="2037842">
                  <a:moveTo>
                    <a:pt x="0" y="143510"/>
                  </a:moveTo>
                  <a:cubicBezTo>
                    <a:pt x="0" y="64008"/>
                    <a:pt x="66929" y="0"/>
                    <a:pt x="148971" y="0"/>
                  </a:cubicBezTo>
                  <a:lnTo>
                    <a:pt x="1888871" y="0"/>
                  </a:lnTo>
                  <a:lnTo>
                    <a:pt x="1888871" y="6350"/>
                  </a:lnTo>
                  <a:lnTo>
                    <a:pt x="1888871" y="0"/>
                  </a:lnTo>
                  <a:cubicBezTo>
                    <a:pt x="1970913" y="0"/>
                    <a:pt x="2037842" y="64008"/>
                    <a:pt x="2037842" y="143510"/>
                  </a:cubicBezTo>
                  <a:lnTo>
                    <a:pt x="2031492" y="143510"/>
                  </a:lnTo>
                  <a:lnTo>
                    <a:pt x="2037842" y="143510"/>
                  </a:lnTo>
                  <a:lnTo>
                    <a:pt x="2031492" y="143510"/>
                  </a:lnTo>
                  <a:lnTo>
                    <a:pt x="2037842" y="143510"/>
                  </a:lnTo>
                  <a:cubicBezTo>
                    <a:pt x="2037842" y="223012"/>
                    <a:pt x="1970913" y="287020"/>
                    <a:pt x="1888871" y="287020"/>
                  </a:cubicBezTo>
                  <a:lnTo>
                    <a:pt x="1888871" y="280670"/>
                  </a:lnTo>
                  <a:lnTo>
                    <a:pt x="1888871" y="287020"/>
                  </a:lnTo>
                  <a:lnTo>
                    <a:pt x="148971" y="287020"/>
                  </a:lnTo>
                  <a:lnTo>
                    <a:pt x="148971" y="280670"/>
                  </a:lnTo>
                  <a:lnTo>
                    <a:pt x="148971" y="287020"/>
                  </a:lnTo>
                  <a:cubicBezTo>
                    <a:pt x="66929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406" y="274320"/>
                    <a:pt x="148971" y="274320"/>
                  </a:cubicBezTo>
                  <a:lnTo>
                    <a:pt x="1888871" y="274320"/>
                  </a:lnTo>
                  <a:cubicBezTo>
                    <a:pt x="1964309" y="274320"/>
                    <a:pt x="2025142" y="215519"/>
                    <a:pt x="2025142" y="143510"/>
                  </a:cubicBezTo>
                  <a:cubicBezTo>
                    <a:pt x="2025142" y="71501"/>
                    <a:pt x="1964309" y="12700"/>
                    <a:pt x="1888871" y="12700"/>
                  </a:cubicBezTo>
                  <a:lnTo>
                    <a:pt x="148971" y="12700"/>
                  </a:lnTo>
                  <a:lnTo>
                    <a:pt x="148971" y="6350"/>
                  </a:lnTo>
                  <a:lnTo>
                    <a:pt x="148971" y="12700"/>
                  </a:lnTo>
                  <a:cubicBezTo>
                    <a:pt x="73406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560566" y="3272580"/>
            <a:ext cx="114300" cy="114300"/>
            <a:chOff x="0" y="0"/>
            <a:chExt cx="152400" cy="1524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712966" y="3245939"/>
            <a:ext cx="1233040" cy="158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"/>
              </a:lnSpc>
            </a:pPr>
            <a:r>
              <a:rPr lang="en-US" sz="90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Validation Accuracy (%)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084119" y="3222127"/>
            <a:ext cx="1261024" cy="215208"/>
            <a:chOff x="0" y="0"/>
            <a:chExt cx="1681366" cy="2869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668653" cy="274320"/>
            </a:xfrm>
            <a:custGeom>
              <a:avLst/>
              <a:gdLst/>
              <a:ahLst/>
              <a:cxnLst/>
              <a:rect r="r" b="b" t="t" l="l"/>
              <a:pathLst>
                <a:path h="274320" w="1668653">
                  <a:moveTo>
                    <a:pt x="0" y="137160"/>
                  </a:moveTo>
                  <a:cubicBezTo>
                    <a:pt x="0" y="61341"/>
                    <a:pt x="63754" y="0"/>
                    <a:pt x="142367" y="0"/>
                  </a:cubicBezTo>
                  <a:lnTo>
                    <a:pt x="1526286" y="0"/>
                  </a:lnTo>
                  <a:cubicBezTo>
                    <a:pt x="1604899" y="0"/>
                    <a:pt x="1668653" y="61341"/>
                    <a:pt x="1668653" y="137160"/>
                  </a:cubicBezTo>
                  <a:cubicBezTo>
                    <a:pt x="1668653" y="212979"/>
                    <a:pt x="1604899" y="274320"/>
                    <a:pt x="1526286" y="274320"/>
                  </a:cubicBezTo>
                  <a:lnTo>
                    <a:pt x="142367" y="274320"/>
                  </a:lnTo>
                  <a:cubicBezTo>
                    <a:pt x="63754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81353" cy="287020"/>
            </a:xfrm>
            <a:custGeom>
              <a:avLst/>
              <a:gdLst/>
              <a:ahLst/>
              <a:cxnLst/>
              <a:rect r="r" b="b" t="t" l="l"/>
              <a:pathLst>
                <a:path h="287020" w="1681353">
                  <a:moveTo>
                    <a:pt x="0" y="143510"/>
                  </a:moveTo>
                  <a:cubicBezTo>
                    <a:pt x="0" y="64008"/>
                    <a:pt x="66802" y="0"/>
                    <a:pt x="148717" y="0"/>
                  </a:cubicBezTo>
                  <a:lnTo>
                    <a:pt x="1532636" y="0"/>
                  </a:lnTo>
                  <a:lnTo>
                    <a:pt x="1532636" y="6350"/>
                  </a:lnTo>
                  <a:lnTo>
                    <a:pt x="1532636" y="0"/>
                  </a:lnTo>
                  <a:cubicBezTo>
                    <a:pt x="1614551" y="0"/>
                    <a:pt x="1681353" y="64008"/>
                    <a:pt x="1681353" y="143510"/>
                  </a:cubicBezTo>
                  <a:lnTo>
                    <a:pt x="1675003" y="143510"/>
                  </a:lnTo>
                  <a:lnTo>
                    <a:pt x="1681353" y="143510"/>
                  </a:lnTo>
                  <a:lnTo>
                    <a:pt x="1675003" y="143510"/>
                  </a:lnTo>
                  <a:lnTo>
                    <a:pt x="1681353" y="143510"/>
                  </a:lnTo>
                  <a:cubicBezTo>
                    <a:pt x="1681353" y="223012"/>
                    <a:pt x="1614551" y="287020"/>
                    <a:pt x="1532636" y="287020"/>
                  </a:cubicBezTo>
                  <a:lnTo>
                    <a:pt x="1532636" y="280670"/>
                  </a:lnTo>
                  <a:lnTo>
                    <a:pt x="1532636" y="287020"/>
                  </a:lnTo>
                  <a:lnTo>
                    <a:pt x="148717" y="287020"/>
                  </a:lnTo>
                  <a:lnTo>
                    <a:pt x="148717" y="280670"/>
                  </a:lnTo>
                  <a:lnTo>
                    <a:pt x="148717" y="287020"/>
                  </a:lnTo>
                  <a:cubicBezTo>
                    <a:pt x="66802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406" y="274320"/>
                    <a:pt x="148717" y="274320"/>
                  </a:cubicBezTo>
                  <a:lnTo>
                    <a:pt x="1532636" y="274320"/>
                  </a:lnTo>
                  <a:cubicBezTo>
                    <a:pt x="1607947" y="274320"/>
                    <a:pt x="1668653" y="215519"/>
                    <a:pt x="1668653" y="143510"/>
                  </a:cubicBezTo>
                  <a:cubicBezTo>
                    <a:pt x="1668653" y="71501"/>
                    <a:pt x="1607947" y="12700"/>
                    <a:pt x="1532636" y="12700"/>
                  </a:cubicBezTo>
                  <a:lnTo>
                    <a:pt x="148717" y="12700"/>
                  </a:lnTo>
                  <a:lnTo>
                    <a:pt x="148717" y="6350"/>
                  </a:lnTo>
                  <a:lnTo>
                    <a:pt x="148717" y="12700"/>
                  </a:lnTo>
                  <a:cubicBezTo>
                    <a:pt x="73406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155556" y="3272580"/>
            <a:ext cx="114300" cy="114300"/>
            <a:chOff x="0" y="0"/>
            <a:chExt cx="152400" cy="1524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307956" y="3245939"/>
            <a:ext cx="965749" cy="158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"/>
              </a:lnSpc>
            </a:pPr>
            <a:r>
              <a:rPr lang="en-US" sz="90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Train Accuracy (%)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93891" y="3527822"/>
            <a:ext cx="7826873" cy="4246664"/>
            <a:chOff x="0" y="0"/>
            <a:chExt cx="10435831" cy="5662219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0435844" cy="5662168"/>
            </a:xfrm>
            <a:custGeom>
              <a:avLst/>
              <a:gdLst/>
              <a:ahLst/>
              <a:cxnLst/>
              <a:rect r="r" b="b" t="t" l="l"/>
              <a:pathLst>
                <a:path h="5662168" w="10435844">
                  <a:moveTo>
                    <a:pt x="0" y="0"/>
                  </a:moveTo>
                  <a:lnTo>
                    <a:pt x="10435844" y="0"/>
                  </a:lnTo>
                  <a:lnTo>
                    <a:pt x="10435844" y="5662168"/>
                  </a:lnTo>
                  <a:lnTo>
                    <a:pt x="0" y="5662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493891" y="7842647"/>
            <a:ext cx="7826873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model achieves strong validation accuracy, demonstrating effective generalization across 99 plant species with minimal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9217" y="885977"/>
            <a:ext cx="8879834" cy="93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Limitations &amp; 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14223" y="2166042"/>
            <a:ext cx="8301333" cy="7187355"/>
            <a:chOff x="0" y="0"/>
            <a:chExt cx="11068444" cy="95831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68431" cy="9583165"/>
            </a:xfrm>
            <a:custGeom>
              <a:avLst/>
              <a:gdLst/>
              <a:ahLst/>
              <a:cxnLst/>
              <a:rect r="r" b="b" t="t" l="l"/>
              <a:pathLst>
                <a:path h="9583165" w="11068431">
                  <a:moveTo>
                    <a:pt x="0" y="246634"/>
                  </a:moveTo>
                  <a:cubicBezTo>
                    <a:pt x="0" y="110490"/>
                    <a:pt x="110490" y="0"/>
                    <a:pt x="246634" y="0"/>
                  </a:cubicBezTo>
                  <a:lnTo>
                    <a:pt x="10821797" y="0"/>
                  </a:lnTo>
                  <a:cubicBezTo>
                    <a:pt x="10958068" y="0"/>
                    <a:pt x="11068431" y="110490"/>
                    <a:pt x="11068431" y="246634"/>
                  </a:cubicBezTo>
                  <a:lnTo>
                    <a:pt x="11068431" y="9336532"/>
                  </a:lnTo>
                  <a:cubicBezTo>
                    <a:pt x="11068431" y="9472802"/>
                    <a:pt x="10957940" y="9583165"/>
                    <a:pt x="10821797" y="9583165"/>
                  </a:cubicBezTo>
                  <a:lnTo>
                    <a:pt x="246634" y="9583165"/>
                  </a:lnTo>
                  <a:cubicBezTo>
                    <a:pt x="110490" y="9583166"/>
                    <a:pt x="0" y="9472676"/>
                    <a:pt x="0" y="9336532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71102" y="2379764"/>
            <a:ext cx="3533032" cy="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Current Limitations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6815" y="3088034"/>
            <a:ext cx="7816158" cy="1665684"/>
            <a:chOff x="0" y="0"/>
            <a:chExt cx="10421544" cy="2220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10383520" cy="2182876"/>
            </a:xfrm>
            <a:custGeom>
              <a:avLst/>
              <a:gdLst/>
              <a:ahLst/>
              <a:cxnLst/>
              <a:rect r="r" b="b" t="t" l="l"/>
              <a:pathLst>
                <a:path h="2182876" w="10383520">
                  <a:moveTo>
                    <a:pt x="0" y="182880"/>
                  </a:moveTo>
                  <a:cubicBezTo>
                    <a:pt x="0" y="81915"/>
                    <a:pt x="83058" y="0"/>
                    <a:pt x="185420" y="0"/>
                  </a:cubicBezTo>
                  <a:lnTo>
                    <a:pt x="10198100" y="0"/>
                  </a:lnTo>
                  <a:cubicBezTo>
                    <a:pt x="10300462" y="0"/>
                    <a:pt x="10383520" y="81915"/>
                    <a:pt x="10383520" y="182880"/>
                  </a:cubicBezTo>
                  <a:lnTo>
                    <a:pt x="10383520" y="1999996"/>
                  </a:lnTo>
                  <a:cubicBezTo>
                    <a:pt x="10383520" y="2100961"/>
                    <a:pt x="10300462" y="2182876"/>
                    <a:pt x="10198100" y="2182876"/>
                  </a:cubicBezTo>
                  <a:lnTo>
                    <a:pt x="185420" y="2182876"/>
                  </a:lnTo>
                  <a:cubicBezTo>
                    <a:pt x="83058" y="2182876"/>
                    <a:pt x="0" y="2100961"/>
                    <a:pt x="0" y="1999996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21620" cy="2220976"/>
            </a:xfrm>
            <a:custGeom>
              <a:avLst/>
              <a:gdLst/>
              <a:ahLst/>
              <a:cxnLst/>
              <a:rect r="r" b="b" t="t" l="l"/>
              <a:pathLst>
                <a:path h="2220976" w="10421620">
                  <a:moveTo>
                    <a:pt x="0" y="201930"/>
                  </a:moveTo>
                  <a:cubicBezTo>
                    <a:pt x="0" y="90170"/>
                    <a:pt x="91821" y="0"/>
                    <a:pt x="204470" y="0"/>
                  </a:cubicBezTo>
                  <a:lnTo>
                    <a:pt x="10217150" y="0"/>
                  </a:lnTo>
                  <a:lnTo>
                    <a:pt x="10217150" y="19050"/>
                  </a:lnTo>
                  <a:lnTo>
                    <a:pt x="10217150" y="0"/>
                  </a:lnTo>
                  <a:cubicBezTo>
                    <a:pt x="10329799" y="0"/>
                    <a:pt x="10421620" y="90170"/>
                    <a:pt x="10421620" y="201930"/>
                  </a:cubicBezTo>
                  <a:lnTo>
                    <a:pt x="10402570" y="201930"/>
                  </a:lnTo>
                  <a:lnTo>
                    <a:pt x="10421620" y="201930"/>
                  </a:lnTo>
                  <a:lnTo>
                    <a:pt x="10421620" y="2019046"/>
                  </a:lnTo>
                  <a:lnTo>
                    <a:pt x="10402570" y="2019046"/>
                  </a:lnTo>
                  <a:lnTo>
                    <a:pt x="10421620" y="2019046"/>
                  </a:lnTo>
                  <a:cubicBezTo>
                    <a:pt x="10421620" y="2130806"/>
                    <a:pt x="10329799" y="2220976"/>
                    <a:pt x="10217150" y="2220976"/>
                  </a:cubicBezTo>
                  <a:lnTo>
                    <a:pt x="10217150" y="2201926"/>
                  </a:lnTo>
                  <a:lnTo>
                    <a:pt x="10217150" y="2220976"/>
                  </a:lnTo>
                  <a:lnTo>
                    <a:pt x="204470" y="2220976"/>
                  </a:lnTo>
                  <a:lnTo>
                    <a:pt x="204470" y="2201926"/>
                  </a:lnTo>
                  <a:lnTo>
                    <a:pt x="204470" y="2220976"/>
                  </a:lnTo>
                  <a:cubicBezTo>
                    <a:pt x="91821" y="2220976"/>
                    <a:pt x="0" y="2130806"/>
                    <a:pt x="0" y="201904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19046"/>
                  </a:lnTo>
                  <a:lnTo>
                    <a:pt x="19050" y="2019046"/>
                  </a:lnTo>
                  <a:lnTo>
                    <a:pt x="38100" y="2019046"/>
                  </a:lnTo>
                  <a:cubicBezTo>
                    <a:pt x="38100" y="2109343"/>
                    <a:pt x="112268" y="2182876"/>
                    <a:pt x="204470" y="2182876"/>
                  </a:cubicBezTo>
                  <a:lnTo>
                    <a:pt x="10217150" y="2182876"/>
                  </a:lnTo>
                  <a:cubicBezTo>
                    <a:pt x="10309225" y="2182876"/>
                    <a:pt x="10383520" y="2109343"/>
                    <a:pt x="10383520" y="2019046"/>
                  </a:cubicBezTo>
                  <a:lnTo>
                    <a:pt x="10383520" y="201930"/>
                  </a:lnTo>
                  <a:cubicBezTo>
                    <a:pt x="10383520" y="111633"/>
                    <a:pt x="10309352" y="38100"/>
                    <a:pt x="10217150" y="38100"/>
                  </a:cubicBezTo>
                  <a:lnTo>
                    <a:pt x="204470" y="38100"/>
                  </a:lnTo>
                  <a:lnTo>
                    <a:pt x="204470" y="19050"/>
                  </a:lnTo>
                  <a:lnTo>
                    <a:pt x="204470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2527" y="3102321"/>
            <a:ext cx="114300" cy="1637109"/>
            <a:chOff x="0" y="0"/>
            <a:chExt cx="152400" cy="21828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2182876"/>
            </a:xfrm>
            <a:custGeom>
              <a:avLst/>
              <a:gdLst/>
              <a:ahLst/>
              <a:cxnLst/>
              <a:rect r="r" b="b" t="t" l="l"/>
              <a:pathLst>
                <a:path h="218287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106676"/>
                  </a:lnTo>
                  <a:cubicBezTo>
                    <a:pt x="152400" y="2148713"/>
                    <a:pt x="118237" y="2182876"/>
                    <a:pt x="76200" y="2182876"/>
                  </a:cubicBezTo>
                  <a:cubicBezTo>
                    <a:pt x="34163" y="2182876"/>
                    <a:pt x="0" y="2148713"/>
                    <a:pt x="0" y="2106676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42282" y="3368726"/>
            <a:ext cx="3533032" cy="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Visual Ambiguity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2282" y="3995442"/>
            <a:ext cx="7130948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Morphologically similar species may be misclassified.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6815" y="4957905"/>
            <a:ext cx="7816158" cy="1665684"/>
            <a:chOff x="0" y="0"/>
            <a:chExt cx="10421544" cy="2220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10383520" cy="2182876"/>
            </a:xfrm>
            <a:custGeom>
              <a:avLst/>
              <a:gdLst/>
              <a:ahLst/>
              <a:cxnLst/>
              <a:rect r="r" b="b" t="t" l="l"/>
              <a:pathLst>
                <a:path h="2182876" w="10383520">
                  <a:moveTo>
                    <a:pt x="0" y="182880"/>
                  </a:moveTo>
                  <a:cubicBezTo>
                    <a:pt x="0" y="81915"/>
                    <a:pt x="83058" y="0"/>
                    <a:pt x="185420" y="0"/>
                  </a:cubicBezTo>
                  <a:lnTo>
                    <a:pt x="10198100" y="0"/>
                  </a:lnTo>
                  <a:cubicBezTo>
                    <a:pt x="10300462" y="0"/>
                    <a:pt x="10383520" y="81915"/>
                    <a:pt x="10383520" y="182880"/>
                  </a:cubicBezTo>
                  <a:lnTo>
                    <a:pt x="10383520" y="1999996"/>
                  </a:lnTo>
                  <a:cubicBezTo>
                    <a:pt x="10383520" y="2100961"/>
                    <a:pt x="10300462" y="2182876"/>
                    <a:pt x="10198100" y="2182876"/>
                  </a:cubicBezTo>
                  <a:lnTo>
                    <a:pt x="185420" y="2182876"/>
                  </a:lnTo>
                  <a:cubicBezTo>
                    <a:pt x="83058" y="2182876"/>
                    <a:pt x="0" y="2100961"/>
                    <a:pt x="0" y="1999996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21620" cy="2220976"/>
            </a:xfrm>
            <a:custGeom>
              <a:avLst/>
              <a:gdLst/>
              <a:ahLst/>
              <a:cxnLst/>
              <a:rect r="r" b="b" t="t" l="l"/>
              <a:pathLst>
                <a:path h="2220976" w="10421620">
                  <a:moveTo>
                    <a:pt x="0" y="201930"/>
                  </a:moveTo>
                  <a:cubicBezTo>
                    <a:pt x="0" y="90170"/>
                    <a:pt x="91821" y="0"/>
                    <a:pt x="204470" y="0"/>
                  </a:cubicBezTo>
                  <a:lnTo>
                    <a:pt x="10217150" y="0"/>
                  </a:lnTo>
                  <a:lnTo>
                    <a:pt x="10217150" y="19050"/>
                  </a:lnTo>
                  <a:lnTo>
                    <a:pt x="10217150" y="0"/>
                  </a:lnTo>
                  <a:cubicBezTo>
                    <a:pt x="10329799" y="0"/>
                    <a:pt x="10421620" y="90170"/>
                    <a:pt x="10421620" y="201930"/>
                  </a:cubicBezTo>
                  <a:lnTo>
                    <a:pt x="10402570" y="201930"/>
                  </a:lnTo>
                  <a:lnTo>
                    <a:pt x="10421620" y="201930"/>
                  </a:lnTo>
                  <a:lnTo>
                    <a:pt x="10421620" y="2019046"/>
                  </a:lnTo>
                  <a:lnTo>
                    <a:pt x="10402570" y="2019046"/>
                  </a:lnTo>
                  <a:lnTo>
                    <a:pt x="10421620" y="2019046"/>
                  </a:lnTo>
                  <a:cubicBezTo>
                    <a:pt x="10421620" y="2130806"/>
                    <a:pt x="10329799" y="2220976"/>
                    <a:pt x="10217150" y="2220976"/>
                  </a:cubicBezTo>
                  <a:lnTo>
                    <a:pt x="10217150" y="2201926"/>
                  </a:lnTo>
                  <a:lnTo>
                    <a:pt x="10217150" y="2220976"/>
                  </a:lnTo>
                  <a:lnTo>
                    <a:pt x="204470" y="2220976"/>
                  </a:lnTo>
                  <a:lnTo>
                    <a:pt x="204470" y="2201926"/>
                  </a:lnTo>
                  <a:lnTo>
                    <a:pt x="204470" y="2220976"/>
                  </a:lnTo>
                  <a:cubicBezTo>
                    <a:pt x="91821" y="2220976"/>
                    <a:pt x="0" y="2130806"/>
                    <a:pt x="0" y="201904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19046"/>
                  </a:lnTo>
                  <a:lnTo>
                    <a:pt x="19050" y="2019046"/>
                  </a:lnTo>
                  <a:lnTo>
                    <a:pt x="38100" y="2019046"/>
                  </a:lnTo>
                  <a:cubicBezTo>
                    <a:pt x="38100" y="2109343"/>
                    <a:pt x="112268" y="2182876"/>
                    <a:pt x="204470" y="2182876"/>
                  </a:cubicBezTo>
                  <a:lnTo>
                    <a:pt x="10217150" y="2182876"/>
                  </a:lnTo>
                  <a:cubicBezTo>
                    <a:pt x="10309225" y="2182876"/>
                    <a:pt x="10383520" y="2109343"/>
                    <a:pt x="10383520" y="2019046"/>
                  </a:cubicBezTo>
                  <a:lnTo>
                    <a:pt x="10383520" y="201930"/>
                  </a:lnTo>
                  <a:cubicBezTo>
                    <a:pt x="10383520" y="111633"/>
                    <a:pt x="10309352" y="38100"/>
                    <a:pt x="10217150" y="38100"/>
                  </a:cubicBezTo>
                  <a:lnTo>
                    <a:pt x="204470" y="38100"/>
                  </a:lnTo>
                  <a:lnTo>
                    <a:pt x="204470" y="19050"/>
                  </a:lnTo>
                  <a:lnTo>
                    <a:pt x="204470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2527" y="4972202"/>
            <a:ext cx="114300" cy="1637109"/>
            <a:chOff x="0" y="0"/>
            <a:chExt cx="152400" cy="21828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" cy="2182876"/>
            </a:xfrm>
            <a:custGeom>
              <a:avLst/>
              <a:gdLst/>
              <a:ahLst/>
              <a:cxnLst/>
              <a:rect r="r" b="b" t="t" l="l"/>
              <a:pathLst>
                <a:path h="218287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106676"/>
                  </a:lnTo>
                  <a:cubicBezTo>
                    <a:pt x="152400" y="2148713"/>
                    <a:pt x="118237" y="2182876"/>
                    <a:pt x="76200" y="2182876"/>
                  </a:cubicBezTo>
                  <a:cubicBezTo>
                    <a:pt x="34163" y="2182876"/>
                    <a:pt x="0" y="2148713"/>
                    <a:pt x="0" y="2106676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42282" y="5238598"/>
            <a:ext cx="3533032" cy="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Image Quality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2282" y="5865314"/>
            <a:ext cx="7130948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Blurry or poorly lit inputs degrade prediction confidence.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6815" y="6827787"/>
            <a:ext cx="7816158" cy="1665684"/>
            <a:chOff x="0" y="0"/>
            <a:chExt cx="10421544" cy="2220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10383520" cy="2182876"/>
            </a:xfrm>
            <a:custGeom>
              <a:avLst/>
              <a:gdLst/>
              <a:ahLst/>
              <a:cxnLst/>
              <a:rect r="r" b="b" t="t" l="l"/>
              <a:pathLst>
                <a:path h="2182876" w="10383520">
                  <a:moveTo>
                    <a:pt x="0" y="182880"/>
                  </a:moveTo>
                  <a:cubicBezTo>
                    <a:pt x="0" y="81915"/>
                    <a:pt x="83058" y="0"/>
                    <a:pt x="185420" y="0"/>
                  </a:cubicBezTo>
                  <a:lnTo>
                    <a:pt x="10198100" y="0"/>
                  </a:lnTo>
                  <a:cubicBezTo>
                    <a:pt x="10300462" y="0"/>
                    <a:pt x="10383520" y="81915"/>
                    <a:pt x="10383520" y="182880"/>
                  </a:cubicBezTo>
                  <a:lnTo>
                    <a:pt x="10383520" y="1999996"/>
                  </a:lnTo>
                  <a:cubicBezTo>
                    <a:pt x="10383520" y="2100961"/>
                    <a:pt x="10300462" y="2182876"/>
                    <a:pt x="10198100" y="2182876"/>
                  </a:cubicBezTo>
                  <a:lnTo>
                    <a:pt x="185420" y="2182876"/>
                  </a:lnTo>
                  <a:cubicBezTo>
                    <a:pt x="83058" y="2182876"/>
                    <a:pt x="0" y="2100961"/>
                    <a:pt x="0" y="1999996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21620" cy="2220976"/>
            </a:xfrm>
            <a:custGeom>
              <a:avLst/>
              <a:gdLst/>
              <a:ahLst/>
              <a:cxnLst/>
              <a:rect r="r" b="b" t="t" l="l"/>
              <a:pathLst>
                <a:path h="2220976" w="10421620">
                  <a:moveTo>
                    <a:pt x="0" y="201930"/>
                  </a:moveTo>
                  <a:cubicBezTo>
                    <a:pt x="0" y="90170"/>
                    <a:pt x="91821" y="0"/>
                    <a:pt x="204470" y="0"/>
                  </a:cubicBezTo>
                  <a:lnTo>
                    <a:pt x="10217150" y="0"/>
                  </a:lnTo>
                  <a:lnTo>
                    <a:pt x="10217150" y="19050"/>
                  </a:lnTo>
                  <a:lnTo>
                    <a:pt x="10217150" y="0"/>
                  </a:lnTo>
                  <a:cubicBezTo>
                    <a:pt x="10329799" y="0"/>
                    <a:pt x="10421620" y="90170"/>
                    <a:pt x="10421620" y="201930"/>
                  </a:cubicBezTo>
                  <a:lnTo>
                    <a:pt x="10402570" y="201930"/>
                  </a:lnTo>
                  <a:lnTo>
                    <a:pt x="10421620" y="201930"/>
                  </a:lnTo>
                  <a:lnTo>
                    <a:pt x="10421620" y="2019046"/>
                  </a:lnTo>
                  <a:lnTo>
                    <a:pt x="10402570" y="2019046"/>
                  </a:lnTo>
                  <a:lnTo>
                    <a:pt x="10421620" y="2019046"/>
                  </a:lnTo>
                  <a:cubicBezTo>
                    <a:pt x="10421620" y="2130806"/>
                    <a:pt x="10329799" y="2220976"/>
                    <a:pt x="10217150" y="2220976"/>
                  </a:cubicBezTo>
                  <a:lnTo>
                    <a:pt x="10217150" y="2201926"/>
                  </a:lnTo>
                  <a:lnTo>
                    <a:pt x="10217150" y="2220976"/>
                  </a:lnTo>
                  <a:lnTo>
                    <a:pt x="204470" y="2220976"/>
                  </a:lnTo>
                  <a:lnTo>
                    <a:pt x="204470" y="2201926"/>
                  </a:lnTo>
                  <a:lnTo>
                    <a:pt x="204470" y="2220976"/>
                  </a:lnTo>
                  <a:cubicBezTo>
                    <a:pt x="91821" y="2220976"/>
                    <a:pt x="0" y="2130806"/>
                    <a:pt x="0" y="201904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19046"/>
                  </a:lnTo>
                  <a:lnTo>
                    <a:pt x="19050" y="2019046"/>
                  </a:lnTo>
                  <a:lnTo>
                    <a:pt x="38100" y="2019046"/>
                  </a:lnTo>
                  <a:cubicBezTo>
                    <a:pt x="38100" y="2109343"/>
                    <a:pt x="112268" y="2182876"/>
                    <a:pt x="204470" y="2182876"/>
                  </a:cubicBezTo>
                  <a:lnTo>
                    <a:pt x="10217150" y="2182876"/>
                  </a:lnTo>
                  <a:cubicBezTo>
                    <a:pt x="10309225" y="2182876"/>
                    <a:pt x="10383520" y="2109343"/>
                    <a:pt x="10383520" y="2019046"/>
                  </a:cubicBezTo>
                  <a:lnTo>
                    <a:pt x="10383520" y="201930"/>
                  </a:lnTo>
                  <a:cubicBezTo>
                    <a:pt x="10383520" y="111633"/>
                    <a:pt x="10309352" y="38100"/>
                    <a:pt x="10217150" y="38100"/>
                  </a:cubicBezTo>
                  <a:lnTo>
                    <a:pt x="204470" y="38100"/>
                  </a:lnTo>
                  <a:lnTo>
                    <a:pt x="204470" y="19050"/>
                  </a:lnTo>
                  <a:lnTo>
                    <a:pt x="204470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2527" y="6842074"/>
            <a:ext cx="114300" cy="1637109"/>
            <a:chOff x="0" y="0"/>
            <a:chExt cx="152400" cy="21828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2182876"/>
            </a:xfrm>
            <a:custGeom>
              <a:avLst/>
              <a:gdLst/>
              <a:ahLst/>
              <a:cxnLst/>
              <a:rect r="r" b="b" t="t" l="l"/>
              <a:pathLst>
                <a:path h="218287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106676"/>
                  </a:lnTo>
                  <a:cubicBezTo>
                    <a:pt x="152400" y="2148713"/>
                    <a:pt x="118237" y="2182876"/>
                    <a:pt x="76200" y="2182876"/>
                  </a:cubicBezTo>
                  <a:cubicBezTo>
                    <a:pt x="34163" y="2182876"/>
                    <a:pt x="0" y="2148713"/>
                    <a:pt x="0" y="2106676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42282" y="7108479"/>
            <a:ext cx="3533032" cy="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API Dependency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2282" y="7735195"/>
            <a:ext cx="7130948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Gemini AI requires active internet connectivity.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66955" y="2379764"/>
            <a:ext cx="3533032" cy="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Future Directions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719072" y="3482873"/>
            <a:ext cx="266405" cy="1204017"/>
            <a:chOff x="0" y="0"/>
            <a:chExt cx="355206" cy="16053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342519" cy="1592707"/>
            </a:xfrm>
            <a:custGeom>
              <a:avLst/>
              <a:gdLst/>
              <a:ahLst/>
              <a:cxnLst/>
              <a:rect r="r" b="b" t="t" l="l"/>
              <a:pathLst>
                <a:path h="1592707" w="342519">
                  <a:moveTo>
                    <a:pt x="0" y="148082"/>
                  </a:moveTo>
                  <a:cubicBezTo>
                    <a:pt x="0" y="66294"/>
                    <a:pt x="64389" y="0"/>
                    <a:pt x="143891" y="0"/>
                  </a:cubicBezTo>
                  <a:lnTo>
                    <a:pt x="198628" y="0"/>
                  </a:lnTo>
                  <a:cubicBezTo>
                    <a:pt x="278130" y="0"/>
                    <a:pt x="342519" y="66294"/>
                    <a:pt x="342519" y="148082"/>
                  </a:cubicBezTo>
                  <a:lnTo>
                    <a:pt x="342519" y="1444625"/>
                  </a:lnTo>
                  <a:cubicBezTo>
                    <a:pt x="342519" y="1526413"/>
                    <a:pt x="278130" y="1592707"/>
                    <a:pt x="198628" y="1592707"/>
                  </a:cubicBezTo>
                  <a:lnTo>
                    <a:pt x="143891" y="1592707"/>
                  </a:lnTo>
                  <a:cubicBezTo>
                    <a:pt x="64389" y="1592707"/>
                    <a:pt x="0" y="1526413"/>
                    <a:pt x="0" y="1444625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5219" cy="1605407"/>
            </a:xfrm>
            <a:custGeom>
              <a:avLst/>
              <a:gdLst/>
              <a:ahLst/>
              <a:cxnLst/>
              <a:rect r="r" b="b" t="t" l="l"/>
              <a:pathLst>
                <a:path h="1605407" w="355219">
                  <a:moveTo>
                    <a:pt x="0" y="154432"/>
                  </a:moveTo>
                  <a:cubicBezTo>
                    <a:pt x="0" y="69342"/>
                    <a:pt x="67056" y="0"/>
                    <a:pt x="150241" y="0"/>
                  </a:cubicBezTo>
                  <a:lnTo>
                    <a:pt x="204978" y="0"/>
                  </a:lnTo>
                  <a:lnTo>
                    <a:pt x="204978" y="6350"/>
                  </a:lnTo>
                  <a:lnTo>
                    <a:pt x="204978" y="0"/>
                  </a:lnTo>
                  <a:cubicBezTo>
                    <a:pt x="288163" y="0"/>
                    <a:pt x="355219" y="69342"/>
                    <a:pt x="355219" y="154432"/>
                  </a:cubicBezTo>
                  <a:lnTo>
                    <a:pt x="355219" y="1450975"/>
                  </a:lnTo>
                  <a:lnTo>
                    <a:pt x="348869" y="1450975"/>
                  </a:lnTo>
                  <a:lnTo>
                    <a:pt x="355219" y="1450975"/>
                  </a:lnTo>
                  <a:cubicBezTo>
                    <a:pt x="355219" y="1536065"/>
                    <a:pt x="288163" y="1605407"/>
                    <a:pt x="204978" y="1605407"/>
                  </a:cubicBezTo>
                  <a:lnTo>
                    <a:pt x="204978" y="1599057"/>
                  </a:lnTo>
                  <a:lnTo>
                    <a:pt x="204978" y="1605407"/>
                  </a:lnTo>
                  <a:lnTo>
                    <a:pt x="150241" y="1605407"/>
                  </a:lnTo>
                  <a:lnTo>
                    <a:pt x="150241" y="1599057"/>
                  </a:lnTo>
                  <a:lnTo>
                    <a:pt x="150241" y="1605407"/>
                  </a:lnTo>
                  <a:cubicBezTo>
                    <a:pt x="67056" y="1605407"/>
                    <a:pt x="0" y="1536065"/>
                    <a:pt x="0" y="1450975"/>
                  </a:cubicBezTo>
                  <a:lnTo>
                    <a:pt x="0" y="154432"/>
                  </a:lnTo>
                  <a:lnTo>
                    <a:pt x="6350" y="154432"/>
                  </a:lnTo>
                  <a:lnTo>
                    <a:pt x="0" y="154432"/>
                  </a:lnTo>
                  <a:moveTo>
                    <a:pt x="12700" y="154432"/>
                  </a:moveTo>
                  <a:lnTo>
                    <a:pt x="12700" y="1450975"/>
                  </a:lnTo>
                  <a:lnTo>
                    <a:pt x="6350" y="1450975"/>
                  </a:lnTo>
                  <a:lnTo>
                    <a:pt x="12700" y="1450975"/>
                  </a:lnTo>
                  <a:cubicBezTo>
                    <a:pt x="12700" y="1529461"/>
                    <a:pt x="74422" y="1592707"/>
                    <a:pt x="150241" y="1592707"/>
                  </a:cubicBezTo>
                  <a:lnTo>
                    <a:pt x="204978" y="1592707"/>
                  </a:lnTo>
                  <a:cubicBezTo>
                    <a:pt x="280797" y="1592707"/>
                    <a:pt x="342519" y="1529461"/>
                    <a:pt x="342519" y="1450975"/>
                  </a:cubicBezTo>
                  <a:lnTo>
                    <a:pt x="342519" y="154432"/>
                  </a:lnTo>
                  <a:lnTo>
                    <a:pt x="348869" y="154432"/>
                  </a:lnTo>
                  <a:lnTo>
                    <a:pt x="342519" y="154432"/>
                  </a:lnTo>
                  <a:cubicBezTo>
                    <a:pt x="342519" y="75946"/>
                    <a:pt x="280797" y="12700"/>
                    <a:pt x="204978" y="12700"/>
                  </a:cubicBezTo>
                  <a:lnTo>
                    <a:pt x="150241" y="12700"/>
                  </a:lnTo>
                  <a:lnTo>
                    <a:pt x="150241" y="6350"/>
                  </a:lnTo>
                  <a:lnTo>
                    <a:pt x="150241" y="12700"/>
                  </a:lnTo>
                  <a:cubicBezTo>
                    <a:pt x="74422" y="12700"/>
                    <a:pt x="12700" y="75946"/>
                    <a:pt x="12700" y="154432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62192" y="3314252"/>
            <a:ext cx="780307" cy="780307"/>
            <a:chOff x="0" y="0"/>
            <a:chExt cx="1040409" cy="10404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30124"/>
                    <a:pt x="230124" y="0"/>
                    <a:pt x="513842" y="0"/>
                  </a:cubicBezTo>
                  <a:cubicBezTo>
                    <a:pt x="797560" y="0"/>
                    <a:pt x="1027684" y="230124"/>
                    <a:pt x="1027684" y="513842"/>
                  </a:cubicBezTo>
                  <a:cubicBezTo>
                    <a:pt x="1027684" y="797560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0384" cy="1040384"/>
            </a:xfrm>
            <a:custGeom>
              <a:avLst/>
              <a:gdLst/>
              <a:ahLst/>
              <a:cxnLst/>
              <a:rect r="r" b="b" t="t" l="l"/>
              <a:pathLst>
                <a:path h="1040384" w="1040384">
                  <a:moveTo>
                    <a:pt x="0" y="520192"/>
                  </a:moveTo>
                  <a:cubicBezTo>
                    <a:pt x="0" y="232918"/>
                    <a:pt x="232918" y="0"/>
                    <a:pt x="520192" y="0"/>
                  </a:cubicBezTo>
                  <a:cubicBezTo>
                    <a:pt x="521462" y="0"/>
                    <a:pt x="522605" y="381"/>
                    <a:pt x="523621" y="1016"/>
                  </a:cubicBezTo>
                  <a:lnTo>
                    <a:pt x="520192" y="6350"/>
                  </a:lnTo>
                  <a:lnTo>
                    <a:pt x="520192" y="0"/>
                  </a:lnTo>
                  <a:lnTo>
                    <a:pt x="520192" y="6350"/>
                  </a:lnTo>
                  <a:lnTo>
                    <a:pt x="520192" y="0"/>
                  </a:lnTo>
                  <a:cubicBezTo>
                    <a:pt x="807466" y="0"/>
                    <a:pt x="1040384" y="232918"/>
                    <a:pt x="1040384" y="520192"/>
                  </a:cubicBezTo>
                  <a:cubicBezTo>
                    <a:pt x="1040384" y="522605"/>
                    <a:pt x="1038987" y="524764"/>
                    <a:pt x="1036828" y="525907"/>
                  </a:cubicBezTo>
                  <a:lnTo>
                    <a:pt x="1034034" y="520192"/>
                  </a:lnTo>
                  <a:lnTo>
                    <a:pt x="1040384" y="520192"/>
                  </a:lnTo>
                  <a:cubicBezTo>
                    <a:pt x="1040384" y="807466"/>
                    <a:pt x="807466" y="1040384"/>
                    <a:pt x="520192" y="1040384"/>
                  </a:cubicBezTo>
                  <a:lnTo>
                    <a:pt x="520192" y="1034034"/>
                  </a:lnTo>
                  <a:lnTo>
                    <a:pt x="520192" y="1040384"/>
                  </a:lnTo>
                  <a:lnTo>
                    <a:pt x="520192" y="1034034"/>
                  </a:lnTo>
                  <a:lnTo>
                    <a:pt x="520192" y="1040384"/>
                  </a:lnTo>
                  <a:cubicBezTo>
                    <a:pt x="232918" y="1040384"/>
                    <a:pt x="0" y="807466"/>
                    <a:pt x="0" y="520192"/>
                  </a:cubicBezTo>
                  <a:cubicBezTo>
                    <a:pt x="0" y="518922"/>
                    <a:pt x="381" y="517779"/>
                    <a:pt x="1016" y="516763"/>
                  </a:cubicBezTo>
                  <a:lnTo>
                    <a:pt x="6350" y="520192"/>
                  </a:lnTo>
                  <a:lnTo>
                    <a:pt x="0" y="520192"/>
                  </a:lnTo>
                  <a:moveTo>
                    <a:pt x="12700" y="520192"/>
                  </a:moveTo>
                  <a:cubicBezTo>
                    <a:pt x="12700" y="521462"/>
                    <a:pt x="12319" y="522605"/>
                    <a:pt x="11684" y="523621"/>
                  </a:cubicBezTo>
                  <a:lnTo>
                    <a:pt x="6350" y="520192"/>
                  </a:lnTo>
                  <a:lnTo>
                    <a:pt x="12700" y="520192"/>
                  </a:lnTo>
                  <a:cubicBezTo>
                    <a:pt x="12700" y="800481"/>
                    <a:pt x="239903" y="1027684"/>
                    <a:pt x="520192" y="1027684"/>
                  </a:cubicBezTo>
                  <a:cubicBezTo>
                    <a:pt x="800481" y="1027684"/>
                    <a:pt x="1027684" y="800481"/>
                    <a:pt x="1027684" y="520192"/>
                  </a:cubicBezTo>
                  <a:cubicBezTo>
                    <a:pt x="1027684" y="517779"/>
                    <a:pt x="1029081" y="515620"/>
                    <a:pt x="1031240" y="514477"/>
                  </a:cubicBezTo>
                  <a:lnTo>
                    <a:pt x="1034034" y="520192"/>
                  </a:lnTo>
                  <a:lnTo>
                    <a:pt x="1027684" y="520192"/>
                  </a:lnTo>
                  <a:cubicBezTo>
                    <a:pt x="1027684" y="239903"/>
                    <a:pt x="800481" y="12700"/>
                    <a:pt x="520192" y="12700"/>
                  </a:cubicBezTo>
                  <a:cubicBezTo>
                    <a:pt x="518922" y="12700"/>
                    <a:pt x="517779" y="12319"/>
                    <a:pt x="516763" y="11684"/>
                  </a:cubicBezTo>
                  <a:lnTo>
                    <a:pt x="520192" y="6350"/>
                  </a:lnTo>
                  <a:lnTo>
                    <a:pt x="520192" y="12700"/>
                  </a:lnTo>
                  <a:cubicBezTo>
                    <a:pt x="239903" y="12700"/>
                    <a:pt x="12700" y="239903"/>
                    <a:pt x="12700" y="520192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9659693" y="3511744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4"/>
                </a:lnTo>
                <a:lnTo>
                  <a:pt x="0" y="3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470509" y="3340151"/>
            <a:ext cx="3533032" cy="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Vision Transformers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70509" y="3966867"/>
            <a:ext cx="6927799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ViT-based models for superior fine-grained recognition.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104387" y="5295605"/>
            <a:ext cx="266405" cy="1595885"/>
            <a:chOff x="0" y="0"/>
            <a:chExt cx="355206" cy="21278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350" y="6350"/>
              <a:ext cx="342519" cy="2115185"/>
            </a:xfrm>
            <a:custGeom>
              <a:avLst/>
              <a:gdLst/>
              <a:ahLst/>
              <a:cxnLst/>
              <a:rect r="r" b="b" t="t" l="l"/>
              <a:pathLst>
                <a:path h="2115185" w="342519">
                  <a:moveTo>
                    <a:pt x="0" y="148336"/>
                  </a:moveTo>
                  <a:cubicBezTo>
                    <a:pt x="0" y="66421"/>
                    <a:pt x="64389" y="0"/>
                    <a:pt x="143891" y="0"/>
                  </a:cubicBezTo>
                  <a:lnTo>
                    <a:pt x="198628" y="0"/>
                  </a:lnTo>
                  <a:cubicBezTo>
                    <a:pt x="278130" y="0"/>
                    <a:pt x="342519" y="66421"/>
                    <a:pt x="342519" y="148336"/>
                  </a:cubicBezTo>
                  <a:lnTo>
                    <a:pt x="342519" y="1966849"/>
                  </a:lnTo>
                  <a:cubicBezTo>
                    <a:pt x="342519" y="2048764"/>
                    <a:pt x="278130" y="2115185"/>
                    <a:pt x="198628" y="2115185"/>
                  </a:cubicBezTo>
                  <a:lnTo>
                    <a:pt x="143891" y="2115185"/>
                  </a:lnTo>
                  <a:cubicBezTo>
                    <a:pt x="64389" y="2115185"/>
                    <a:pt x="0" y="2048764"/>
                    <a:pt x="0" y="1966849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5219" cy="2127885"/>
            </a:xfrm>
            <a:custGeom>
              <a:avLst/>
              <a:gdLst/>
              <a:ahLst/>
              <a:cxnLst/>
              <a:rect r="r" b="b" t="t" l="l"/>
              <a:pathLst>
                <a:path h="2127885" w="355219">
                  <a:moveTo>
                    <a:pt x="0" y="154686"/>
                  </a:moveTo>
                  <a:cubicBezTo>
                    <a:pt x="0" y="69469"/>
                    <a:pt x="67056" y="0"/>
                    <a:pt x="150241" y="0"/>
                  </a:cubicBezTo>
                  <a:lnTo>
                    <a:pt x="204978" y="0"/>
                  </a:lnTo>
                  <a:lnTo>
                    <a:pt x="204978" y="6350"/>
                  </a:lnTo>
                  <a:lnTo>
                    <a:pt x="204978" y="0"/>
                  </a:lnTo>
                  <a:cubicBezTo>
                    <a:pt x="288163" y="0"/>
                    <a:pt x="355219" y="69469"/>
                    <a:pt x="355219" y="154686"/>
                  </a:cubicBezTo>
                  <a:lnTo>
                    <a:pt x="355219" y="1973199"/>
                  </a:lnTo>
                  <a:lnTo>
                    <a:pt x="348869" y="1973199"/>
                  </a:lnTo>
                  <a:lnTo>
                    <a:pt x="355219" y="1973199"/>
                  </a:lnTo>
                  <a:cubicBezTo>
                    <a:pt x="355219" y="2058416"/>
                    <a:pt x="288163" y="2127885"/>
                    <a:pt x="204978" y="2127885"/>
                  </a:cubicBezTo>
                  <a:lnTo>
                    <a:pt x="204978" y="2121535"/>
                  </a:lnTo>
                  <a:lnTo>
                    <a:pt x="204978" y="2127885"/>
                  </a:lnTo>
                  <a:lnTo>
                    <a:pt x="150241" y="2127885"/>
                  </a:lnTo>
                  <a:lnTo>
                    <a:pt x="150241" y="2121535"/>
                  </a:lnTo>
                  <a:lnTo>
                    <a:pt x="150241" y="2127885"/>
                  </a:lnTo>
                  <a:cubicBezTo>
                    <a:pt x="67056" y="2127885"/>
                    <a:pt x="0" y="2058416"/>
                    <a:pt x="0" y="1973199"/>
                  </a:cubicBezTo>
                  <a:lnTo>
                    <a:pt x="0" y="154686"/>
                  </a:lnTo>
                  <a:lnTo>
                    <a:pt x="6350" y="154686"/>
                  </a:lnTo>
                  <a:lnTo>
                    <a:pt x="0" y="154686"/>
                  </a:lnTo>
                  <a:moveTo>
                    <a:pt x="12700" y="154686"/>
                  </a:moveTo>
                  <a:lnTo>
                    <a:pt x="12700" y="1973199"/>
                  </a:lnTo>
                  <a:lnTo>
                    <a:pt x="6350" y="1973199"/>
                  </a:lnTo>
                  <a:lnTo>
                    <a:pt x="12700" y="1973199"/>
                  </a:lnTo>
                  <a:cubicBezTo>
                    <a:pt x="12700" y="2051812"/>
                    <a:pt x="74422" y="2115185"/>
                    <a:pt x="150241" y="2115185"/>
                  </a:cubicBezTo>
                  <a:lnTo>
                    <a:pt x="204978" y="2115185"/>
                  </a:lnTo>
                  <a:cubicBezTo>
                    <a:pt x="280797" y="2115185"/>
                    <a:pt x="342519" y="2051812"/>
                    <a:pt x="342519" y="1973199"/>
                  </a:cubicBezTo>
                  <a:lnTo>
                    <a:pt x="342519" y="154686"/>
                  </a:lnTo>
                  <a:lnTo>
                    <a:pt x="348869" y="154686"/>
                  </a:lnTo>
                  <a:lnTo>
                    <a:pt x="342519" y="154686"/>
                  </a:lnTo>
                  <a:cubicBezTo>
                    <a:pt x="342519" y="76073"/>
                    <a:pt x="280797" y="12700"/>
                    <a:pt x="204978" y="12700"/>
                  </a:cubicBezTo>
                  <a:lnTo>
                    <a:pt x="150241" y="12700"/>
                  </a:lnTo>
                  <a:lnTo>
                    <a:pt x="150241" y="6350"/>
                  </a:lnTo>
                  <a:lnTo>
                    <a:pt x="150241" y="12700"/>
                  </a:lnTo>
                  <a:cubicBezTo>
                    <a:pt x="74422" y="12700"/>
                    <a:pt x="12700" y="76073"/>
                    <a:pt x="12700" y="154686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47507" y="5126984"/>
            <a:ext cx="780307" cy="780307"/>
            <a:chOff x="0" y="0"/>
            <a:chExt cx="1040409" cy="104040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350" y="635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30124"/>
                    <a:pt x="230124" y="0"/>
                    <a:pt x="513842" y="0"/>
                  </a:cubicBezTo>
                  <a:cubicBezTo>
                    <a:pt x="797560" y="0"/>
                    <a:pt x="1027684" y="230124"/>
                    <a:pt x="1027684" y="513842"/>
                  </a:cubicBezTo>
                  <a:cubicBezTo>
                    <a:pt x="1027684" y="797560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0384" cy="1040384"/>
            </a:xfrm>
            <a:custGeom>
              <a:avLst/>
              <a:gdLst/>
              <a:ahLst/>
              <a:cxnLst/>
              <a:rect r="r" b="b" t="t" l="l"/>
              <a:pathLst>
                <a:path h="1040384" w="1040384">
                  <a:moveTo>
                    <a:pt x="0" y="520192"/>
                  </a:moveTo>
                  <a:cubicBezTo>
                    <a:pt x="0" y="232918"/>
                    <a:pt x="232918" y="0"/>
                    <a:pt x="520192" y="0"/>
                  </a:cubicBezTo>
                  <a:cubicBezTo>
                    <a:pt x="521462" y="0"/>
                    <a:pt x="522605" y="381"/>
                    <a:pt x="523621" y="1016"/>
                  </a:cubicBezTo>
                  <a:lnTo>
                    <a:pt x="520192" y="6350"/>
                  </a:lnTo>
                  <a:lnTo>
                    <a:pt x="520192" y="0"/>
                  </a:lnTo>
                  <a:lnTo>
                    <a:pt x="520192" y="6350"/>
                  </a:lnTo>
                  <a:lnTo>
                    <a:pt x="520192" y="0"/>
                  </a:lnTo>
                  <a:cubicBezTo>
                    <a:pt x="807466" y="0"/>
                    <a:pt x="1040384" y="232918"/>
                    <a:pt x="1040384" y="520192"/>
                  </a:cubicBezTo>
                  <a:cubicBezTo>
                    <a:pt x="1040384" y="522605"/>
                    <a:pt x="1038987" y="524764"/>
                    <a:pt x="1036828" y="525907"/>
                  </a:cubicBezTo>
                  <a:lnTo>
                    <a:pt x="1034034" y="520192"/>
                  </a:lnTo>
                  <a:lnTo>
                    <a:pt x="1040384" y="520192"/>
                  </a:lnTo>
                  <a:cubicBezTo>
                    <a:pt x="1040384" y="807466"/>
                    <a:pt x="807466" y="1040384"/>
                    <a:pt x="520192" y="1040384"/>
                  </a:cubicBezTo>
                  <a:lnTo>
                    <a:pt x="520192" y="1034034"/>
                  </a:lnTo>
                  <a:lnTo>
                    <a:pt x="520192" y="1040384"/>
                  </a:lnTo>
                  <a:lnTo>
                    <a:pt x="520192" y="1034034"/>
                  </a:lnTo>
                  <a:lnTo>
                    <a:pt x="520192" y="1040384"/>
                  </a:lnTo>
                  <a:cubicBezTo>
                    <a:pt x="232918" y="1040384"/>
                    <a:pt x="0" y="807466"/>
                    <a:pt x="0" y="520192"/>
                  </a:cubicBezTo>
                  <a:cubicBezTo>
                    <a:pt x="0" y="518922"/>
                    <a:pt x="381" y="517779"/>
                    <a:pt x="1016" y="516763"/>
                  </a:cubicBezTo>
                  <a:lnTo>
                    <a:pt x="6350" y="520192"/>
                  </a:lnTo>
                  <a:lnTo>
                    <a:pt x="0" y="520192"/>
                  </a:lnTo>
                  <a:moveTo>
                    <a:pt x="12700" y="520192"/>
                  </a:moveTo>
                  <a:cubicBezTo>
                    <a:pt x="12700" y="521462"/>
                    <a:pt x="12319" y="522605"/>
                    <a:pt x="11684" y="523621"/>
                  </a:cubicBezTo>
                  <a:lnTo>
                    <a:pt x="6350" y="520192"/>
                  </a:lnTo>
                  <a:lnTo>
                    <a:pt x="12700" y="520192"/>
                  </a:lnTo>
                  <a:cubicBezTo>
                    <a:pt x="12700" y="800481"/>
                    <a:pt x="239903" y="1027684"/>
                    <a:pt x="520192" y="1027684"/>
                  </a:cubicBezTo>
                  <a:cubicBezTo>
                    <a:pt x="800481" y="1027684"/>
                    <a:pt x="1027684" y="800481"/>
                    <a:pt x="1027684" y="520192"/>
                  </a:cubicBezTo>
                  <a:cubicBezTo>
                    <a:pt x="1027684" y="517779"/>
                    <a:pt x="1029081" y="515620"/>
                    <a:pt x="1031240" y="514477"/>
                  </a:cubicBezTo>
                  <a:lnTo>
                    <a:pt x="1034034" y="520192"/>
                  </a:lnTo>
                  <a:lnTo>
                    <a:pt x="1027684" y="520192"/>
                  </a:lnTo>
                  <a:cubicBezTo>
                    <a:pt x="1027684" y="239903"/>
                    <a:pt x="800481" y="12700"/>
                    <a:pt x="520192" y="12700"/>
                  </a:cubicBezTo>
                  <a:cubicBezTo>
                    <a:pt x="518922" y="12700"/>
                    <a:pt x="517779" y="12319"/>
                    <a:pt x="516763" y="11684"/>
                  </a:cubicBezTo>
                  <a:lnTo>
                    <a:pt x="520192" y="6350"/>
                  </a:lnTo>
                  <a:lnTo>
                    <a:pt x="520192" y="12700"/>
                  </a:lnTo>
                  <a:cubicBezTo>
                    <a:pt x="239903" y="12700"/>
                    <a:pt x="12700" y="239903"/>
                    <a:pt x="12700" y="520192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Freeform 47" id="47" descr="preencoded.png"/>
          <p:cNvSpPr/>
          <p:nvPr/>
        </p:nvSpPr>
        <p:spPr>
          <a:xfrm flipH="false" flipV="false" rot="0">
            <a:off x="10045008" y="5324475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2438" t="0" r="-52441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0855823" y="5152873"/>
            <a:ext cx="3743030" cy="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Multi-Part Recognition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855823" y="5779589"/>
            <a:ext cx="6542484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Extend to flowers, stems, bark for holistic identification.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489854" y="7500195"/>
            <a:ext cx="266405" cy="1595885"/>
            <a:chOff x="0" y="0"/>
            <a:chExt cx="355206" cy="212784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6350" y="6350"/>
              <a:ext cx="342519" cy="2115185"/>
            </a:xfrm>
            <a:custGeom>
              <a:avLst/>
              <a:gdLst/>
              <a:ahLst/>
              <a:cxnLst/>
              <a:rect r="r" b="b" t="t" l="l"/>
              <a:pathLst>
                <a:path h="2115185" w="342519">
                  <a:moveTo>
                    <a:pt x="0" y="148336"/>
                  </a:moveTo>
                  <a:cubicBezTo>
                    <a:pt x="0" y="66421"/>
                    <a:pt x="64389" y="0"/>
                    <a:pt x="143891" y="0"/>
                  </a:cubicBezTo>
                  <a:lnTo>
                    <a:pt x="198628" y="0"/>
                  </a:lnTo>
                  <a:cubicBezTo>
                    <a:pt x="278130" y="0"/>
                    <a:pt x="342519" y="66421"/>
                    <a:pt x="342519" y="148336"/>
                  </a:cubicBezTo>
                  <a:lnTo>
                    <a:pt x="342519" y="1966849"/>
                  </a:lnTo>
                  <a:cubicBezTo>
                    <a:pt x="342519" y="2048764"/>
                    <a:pt x="278130" y="2115185"/>
                    <a:pt x="198628" y="2115185"/>
                  </a:cubicBezTo>
                  <a:lnTo>
                    <a:pt x="143891" y="2115185"/>
                  </a:lnTo>
                  <a:cubicBezTo>
                    <a:pt x="64389" y="2115185"/>
                    <a:pt x="0" y="2048764"/>
                    <a:pt x="0" y="1966849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5219" cy="2127885"/>
            </a:xfrm>
            <a:custGeom>
              <a:avLst/>
              <a:gdLst/>
              <a:ahLst/>
              <a:cxnLst/>
              <a:rect r="r" b="b" t="t" l="l"/>
              <a:pathLst>
                <a:path h="2127885" w="355219">
                  <a:moveTo>
                    <a:pt x="0" y="154686"/>
                  </a:moveTo>
                  <a:cubicBezTo>
                    <a:pt x="0" y="69469"/>
                    <a:pt x="67056" y="0"/>
                    <a:pt x="150241" y="0"/>
                  </a:cubicBezTo>
                  <a:lnTo>
                    <a:pt x="204978" y="0"/>
                  </a:lnTo>
                  <a:lnTo>
                    <a:pt x="204978" y="6350"/>
                  </a:lnTo>
                  <a:lnTo>
                    <a:pt x="204978" y="0"/>
                  </a:lnTo>
                  <a:cubicBezTo>
                    <a:pt x="288163" y="0"/>
                    <a:pt x="355219" y="69469"/>
                    <a:pt x="355219" y="154686"/>
                  </a:cubicBezTo>
                  <a:lnTo>
                    <a:pt x="355219" y="1973199"/>
                  </a:lnTo>
                  <a:lnTo>
                    <a:pt x="348869" y="1973199"/>
                  </a:lnTo>
                  <a:lnTo>
                    <a:pt x="355219" y="1973199"/>
                  </a:lnTo>
                  <a:cubicBezTo>
                    <a:pt x="355219" y="2058416"/>
                    <a:pt x="288163" y="2127885"/>
                    <a:pt x="204978" y="2127885"/>
                  </a:cubicBezTo>
                  <a:lnTo>
                    <a:pt x="204978" y="2121535"/>
                  </a:lnTo>
                  <a:lnTo>
                    <a:pt x="204978" y="2127885"/>
                  </a:lnTo>
                  <a:lnTo>
                    <a:pt x="150241" y="2127885"/>
                  </a:lnTo>
                  <a:lnTo>
                    <a:pt x="150241" y="2121535"/>
                  </a:lnTo>
                  <a:lnTo>
                    <a:pt x="150241" y="2127885"/>
                  </a:lnTo>
                  <a:cubicBezTo>
                    <a:pt x="67056" y="2127885"/>
                    <a:pt x="0" y="2058416"/>
                    <a:pt x="0" y="1973199"/>
                  </a:cubicBezTo>
                  <a:lnTo>
                    <a:pt x="0" y="154686"/>
                  </a:lnTo>
                  <a:lnTo>
                    <a:pt x="6350" y="154686"/>
                  </a:lnTo>
                  <a:lnTo>
                    <a:pt x="0" y="154686"/>
                  </a:lnTo>
                  <a:moveTo>
                    <a:pt x="12700" y="154686"/>
                  </a:moveTo>
                  <a:lnTo>
                    <a:pt x="12700" y="1973199"/>
                  </a:lnTo>
                  <a:lnTo>
                    <a:pt x="6350" y="1973199"/>
                  </a:lnTo>
                  <a:lnTo>
                    <a:pt x="12700" y="1973199"/>
                  </a:lnTo>
                  <a:cubicBezTo>
                    <a:pt x="12700" y="2051812"/>
                    <a:pt x="74422" y="2115185"/>
                    <a:pt x="150241" y="2115185"/>
                  </a:cubicBezTo>
                  <a:lnTo>
                    <a:pt x="204978" y="2115185"/>
                  </a:lnTo>
                  <a:cubicBezTo>
                    <a:pt x="280797" y="2115185"/>
                    <a:pt x="342519" y="2051812"/>
                    <a:pt x="342519" y="1973199"/>
                  </a:cubicBezTo>
                  <a:lnTo>
                    <a:pt x="342519" y="154686"/>
                  </a:lnTo>
                  <a:lnTo>
                    <a:pt x="348869" y="154686"/>
                  </a:lnTo>
                  <a:lnTo>
                    <a:pt x="342519" y="154686"/>
                  </a:lnTo>
                  <a:cubicBezTo>
                    <a:pt x="342519" y="76073"/>
                    <a:pt x="280797" y="12700"/>
                    <a:pt x="204978" y="12700"/>
                  </a:cubicBezTo>
                  <a:lnTo>
                    <a:pt x="150241" y="12700"/>
                  </a:lnTo>
                  <a:lnTo>
                    <a:pt x="150241" y="6350"/>
                  </a:lnTo>
                  <a:lnTo>
                    <a:pt x="150241" y="12700"/>
                  </a:lnTo>
                  <a:cubicBezTo>
                    <a:pt x="74422" y="12700"/>
                    <a:pt x="12700" y="76073"/>
                    <a:pt x="12700" y="154686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232974" y="7331573"/>
            <a:ext cx="780307" cy="780307"/>
            <a:chOff x="0" y="0"/>
            <a:chExt cx="1040409" cy="104040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6350" y="635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30124"/>
                    <a:pt x="230124" y="0"/>
                    <a:pt x="513842" y="0"/>
                  </a:cubicBezTo>
                  <a:cubicBezTo>
                    <a:pt x="797560" y="0"/>
                    <a:pt x="1027684" y="230124"/>
                    <a:pt x="1027684" y="513842"/>
                  </a:cubicBezTo>
                  <a:cubicBezTo>
                    <a:pt x="1027684" y="797560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0384" cy="1040384"/>
            </a:xfrm>
            <a:custGeom>
              <a:avLst/>
              <a:gdLst/>
              <a:ahLst/>
              <a:cxnLst/>
              <a:rect r="r" b="b" t="t" l="l"/>
              <a:pathLst>
                <a:path h="1040384" w="1040384">
                  <a:moveTo>
                    <a:pt x="0" y="520192"/>
                  </a:moveTo>
                  <a:cubicBezTo>
                    <a:pt x="0" y="232918"/>
                    <a:pt x="232918" y="0"/>
                    <a:pt x="520192" y="0"/>
                  </a:cubicBezTo>
                  <a:cubicBezTo>
                    <a:pt x="521462" y="0"/>
                    <a:pt x="522605" y="381"/>
                    <a:pt x="523621" y="1016"/>
                  </a:cubicBezTo>
                  <a:lnTo>
                    <a:pt x="520192" y="6350"/>
                  </a:lnTo>
                  <a:lnTo>
                    <a:pt x="520192" y="0"/>
                  </a:lnTo>
                  <a:lnTo>
                    <a:pt x="520192" y="6350"/>
                  </a:lnTo>
                  <a:lnTo>
                    <a:pt x="520192" y="0"/>
                  </a:lnTo>
                  <a:cubicBezTo>
                    <a:pt x="807466" y="0"/>
                    <a:pt x="1040384" y="232918"/>
                    <a:pt x="1040384" y="520192"/>
                  </a:cubicBezTo>
                  <a:cubicBezTo>
                    <a:pt x="1040384" y="522605"/>
                    <a:pt x="1038987" y="524764"/>
                    <a:pt x="1036828" y="525907"/>
                  </a:cubicBezTo>
                  <a:lnTo>
                    <a:pt x="1034034" y="520192"/>
                  </a:lnTo>
                  <a:lnTo>
                    <a:pt x="1040384" y="520192"/>
                  </a:lnTo>
                  <a:cubicBezTo>
                    <a:pt x="1040384" y="807466"/>
                    <a:pt x="807466" y="1040384"/>
                    <a:pt x="520192" y="1040384"/>
                  </a:cubicBezTo>
                  <a:lnTo>
                    <a:pt x="520192" y="1034034"/>
                  </a:lnTo>
                  <a:lnTo>
                    <a:pt x="520192" y="1040384"/>
                  </a:lnTo>
                  <a:lnTo>
                    <a:pt x="520192" y="1034034"/>
                  </a:lnTo>
                  <a:lnTo>
                    <a:pt x="520192" y="1040384"/>
                  </a:lnTo>
                  <a:cubicBezTo>
                    <a:pt x="232918" y="1040384"/>
                    <a:pt x="0" y="807466"/>
                    <a:pt x="0" y="520192"/>
                  </a:cubicBezTo>
                  <a:cubicBezTo>
                    <a:pt x="0" y="518922"/>
                    <a:pt x="381" y="517779"/>
                    <a:pt x="1016" y="516763"/>
                  </a:cubicBezTo>
                  <a:lnTo>
                    <a:pt x="6350" y="520192"/>
                  </a:lnTo>
                  <a:lnTo>
                    <a:pt x="0" y="520192"/>
                  </a:lnTo>
                  <a:moveTo>
                    <a:pt x="12700" y="520192"/>
                  </a:moveTo>
                  <a:cubicBezTo>
                    <a:pt x="12700" y="521462"/>
                    <a:pt x="12319" y="522605"/>
                    <a:pt x="11684" y="523621"/>
                  </a:cubicBezTo>
                  <a:lnTo>
                    <a:pt x="6350" y="520192"/>
                  </a:lnTo>
                  <a:lnTo>
                    <a:pt x="12700" y="520192"/>
                  </a:lnTo>
                  <a:cubicBezTo>
                    <a:pt x="12700" y="800481"/>
                    <a:pt x="239903" y="1027684"/>
                    <a:pt x="520192" y="1027684"/>
                  </a:cubicBezTo>
                  <a:cubicBezTo>
                    <a:pt x="800481" y="1027684"/>
                    <a:pt x="1027684" y="800481"/>
                    <a:pt x="1027684" y="520192"/>
                  </a:cubicBezTo>
                  <a:cubicBezTo>
                    <a:pt x="1027684" y="517779"/>
                    <a:pt x="1029081" y="515620"/>
                    <a:pt x="1031240" y="514477"/>
                  </a:cubicBezTo>
                  <a:lnTo>
                    <a:pt x="1034034" y="520192"/>
                  </a:lnTo>
                  <a:lnTo>
                    <a:pt x="1027684" y="520192"/>
                  </a:lnTo>
                  <a:cubicBezTo>
                    <a:pt x="1027684" y="239903"/>
                    <a:pt x="800481" y="12700"/>
                    <a:pt x="520192" y="12700"/>
                  </a:cubicBezTo>
                  <a:cubicBezTo>
                    <a:pt x="518922" y="12700"/>
                    <a:pt x="517779" y="12319"/>
                    <a:pt x="516763" y="11684"/>
                  </a:cubicBezTo>
                  <a:lnTo>
                    <a:pt x="520192" y="6350"/>
                  </a:lnTo>
                  <a:lnTo>
                    <a:pt x="520192" y="12700"/>
                  </a:lnTo>
                  <a:cubicBezTo>
                    <a:pt x="239903" y="12700"/>
                    <a:pt x="12700" y="239903"/>
                    <a:pt x="12700" y="520192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Freeform 56" id="56" descr="preencoded.png"/>
          <p:cNvSpPr/>
          <p:nvPr/>
        </p:nvSpPr>
        <p:spPr>
          <a:xfrm flipH="false" flipV="false" rot="0">
            <a:off x="10430466" y="7529065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4" y="0"/>
                </a:lnTo>
                <a:lnTo>
                  <a:pt x="385314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317" r="0" b="-7317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1241291" y="7357472"/>
            <a:ext cx="3533032" cy="4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Offline AI Systems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41291" y="7984179"/>
            <a:ext cx="6157017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On-device language models for field use without internet.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857212" y="975570"/>
            <a:ext cx="7431586" cy="9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58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Conclusion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99041" y="2333625"/>
            <a:ext cx="9547917" cy="4458148"/>
            <a:chOff x="0" y="0"/>
            <a:chExt cx="12730556" cy="5944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2717907" cy="5931408"/>
            </a:xfrm>
            <a:custGeom>
              <a:avLst/>
              <a:gdLst/>
              <a:ahLst/>
              <a:cxnLst/>
              <a:rect r="r" b="b" t="t" l="l"/>
              <a:pathLst>
                <a:path h="5931408" w="12717907">
                  <a:moveTo>
                    <a:pt x="0" y="151257"/>
                  </a:moveTo>
                  <a:cubicBezTo>
                    <a:pt x="0" y="67691"/>
                    <a:pt x="67818" y="0"/>
                    <a:pt x="151511" y="0"/>
                  </a:cubicBezTo>
                  <a:lnTo>
                    <a:pt x="12566396" y="0"/>
                  </a:lnTo>
                  <a:cubicBezTo>
                    <a:pt x="12650089" y="0"/>
                    <a:pt x="12717907" y="67691"/>
                    <a:pt x="12717907" y="151257"/>
                  </a:cubicBezTo>
                  <a:lnTo>
                    <a:pt x="12717907" y="5780151"/>
                  </a:lnTo>
                  <a:cubicBezTo>
                    <a:pt x="12717907" y="5863717"/>
                    <a:pt x="12650089" y="5931408"/>
                    <a:pt x="12566396" y="5931408"/>
                  </a:cubicBezTo>
                  <a:lnTo>
                    <a:pt x="151511" y="5931408"/>
                  </a:lnTo>
                  <a:cubicBezTo>
                    <a:pt x="67818" y="5931535"/>
                    <a:pt x="0" y="5863717"/>
                    <a:pt x="0" y="5780151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30607" cy="5944108"/>
            </a:xfrm>
            <a:custGeom>
              <a:avLst/>
              <a:gdLst/>
              <a:ahLst/>
              <a:cxnLst/>
              <a:rect r="r" b="b" t="t" l="l"/>
              <a:pathLst>
                <a:path h="5944108" w="12730607">
                  <a:moveTo>
                    <a:pt x="0" y="157607"/>
                  </a:moveTo>
                  <a:cubicBezTo>
                    <a:pt x="0" y="70612"/>
                    <a:pt x="70612" y="0"/>
                    <a:pt x="157861" y="0"/>
                  </a:cubicBezTo>
                  <a:lnTo>
                    <a:pt x="12572746" y="0"/>
                  </a:lnTo>
                  <a:lnTo>
                    <a:pt x="12572746" y="6350"/>
                  </a:lnTo>
                  <a:lnTo>
                    <a:pt x="12572746" y="0"/>
                  </a:lnTo>
                  <a:cubicBezTo>
                    <a:pt x="12659868" y="0"/>
                    <a:pt x="12730607" y="70612"/>
                    <a:pt x="12730607" y="157607"/>
                  </a:cubicBezTo>
                  <a:lnTo>
                    <a:pt x="12724257" y="157607"/>
                  </a:lnTo>
                  <a:lnTo>
                    <a:pt x="12730607" y="157607"/>
                  </a:lnTo>
                  <a:lnTo>
                    <a:pt x="12730607" y="5786501"/>
                  </a:lnTo>
                  <a:lnTo>
                    <a:pt x="12724257" y="5786501"/>
                  </a:lnTo>
                  <a:lnTo>
                    <a:pt x="12730607" y="5786501"/>
                  </a:lnTo>
                  <a:cubicBezTo>
                    <a:pt x="12730607" y="5873623"/>
                    <a:pt x="12659995" y="5944108"/>
                    <a:pt x="12572746" y="5944108"/>
                  </a:cubicBezTo>
                  <a:lnTo>
                    <a:pt x="12572746" y="5937758"/>
                  </a:lnTo>
                  <a:lnTo>
                    <a:pt x="12572746" y="5944108"/>
                  </a:lnTo>
                  <a:lnTo>
                    <a:pt x="157861" y="5944108"/>
                  </a:lnTo>
                  <a:lnTo>
                    <a:pt x="157861" y="5937758"/>
                  </a:lnTo>
                  <a:lnTo>
                    <a:pt x="157861" y="5944108"/>
                  </a:lnTo>
                  <a:cubicBezTo>
                    <a:pt x="70612" y="5944235"/>
                    <a:pt x="0" y="5873623"/>
                    <a:pt x="0" y="5786501"/>
                  </a:cubicBezTo>
                  <a:lnTo>
                    <a:pt x="0" y="157607"/>
                  </a:lnTo>
                  <a:lnTo>
                    <a:pt x="6350" y="157607"/>
                  </a:lnTo>
                  <a:lnTo>
                    <a:pt x="0" y="157607"/>
                  </a:lnTo>
                  <a:moveTo>
                    <a:pt x="12700" y="157607"/>
                  </a:moveTo>
                  <a:lnTo>
                    <a:pt x="12700" y="5786501"/>
                  </a:lnTo>
                  <a:lnTo>
                    <a:pt x="6350" y="5786501"/>
                  </a:lnTo>
                  <a:lnTo>
                    <a:pt x="12700" y="5786501"/>
                  </a:lnTo>
                  <a:cubicBezTo>
                    <a:pt x="12700" y="5866511"/>
                    <a:pt x="77724" y="5931408"/>
                    <a:pt x="157861" y="5931408"/>
                  </a:cubicBezTo>
                  <a:lnTo>
                    <a:pt x="12572746" y="5931408"/>
                  </a:lnTo>
                  <a:cubicBezTo>
                    <a:pt x="12652883" y="5931408"/>
                    <a:pt x="12717907" y="5866511"/>
                    <a:pt x="12717907" y="5786501"/>
                  </a:cubicBezTo>
                  <a:lnTo>
                    <a:pt x="12717907" y="157607"/>
                  </a:lnTo>
                  <a:cubicBezTo>
                    <a:pt x="12717907" y="77597"/>
                    <a:pt x="12652883" y="12700"/>
                    <a:pt x="12572746" y="12700"/>
                  </a:cubicBezTo>
                  <a:lnTo>
                    <a:pt x="157861" y="12700"/>
                  </a:lnTo>
                  <a:lnTo>
                    <a:pt x="157861" y="6350"/>
                  </a:lnTo>
                  <a:lnTo>
                    <a:pt x="157861" y="12700"/>
                  </a:lnTo>
                  <a:cubicBezTo>
                    <a:pt x="77724" y="12700"/>
                    <a:pt x="12700" y="77597"/>
                    <a:pt x="12700" y="15760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13329" y="2347912"/>
            <a:ext cx="4759671" cy="2425894"/>
            <a:chOff x="0" y="0"/>
            <a:chExt cx="6346228" cy="32345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46317" cy="3234563"/>
            </a:xfrm>
            <a:custGeom>
              <a:avLst/>
              <a:gdLst/>
              <a:ahLst/>
              <a:cxnLst/>
              <a:rect r="r" b="b" t="t" l="l"/>
              <a:pathLst>
                <a:path h="3234563" w="6346317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6194933" y="0"/>
                  </a:lnTo>
                  <a:cubicBezTo>
                    <a:pt x="6278499" y="0"/>
                    <a:pt x="6346317" y="67818"/>
                    <a:pt x="6346317" y="151384"/>
                  </a:cubicBezTo>
                  <a:lnTo>
                    <a:pt x="6346317" y="3083179"/>
                  </a:lnTo>
                  <a:cubicBezTo>
                    <a:pt x="6346317" y="3166745"/>
                    <a:pt x="6278499" y="3234563"/>
                    <a:pt x="6194933" y="3234563"/>
                  </a:cubicBezTo>
                  <a:lnTo>
                    <a:pt x="151384" y="3234563"/>
                  </a:lnTo>
                  <a:cubicBezTo>
                    <a:pt x="67818" y="3234563"/>
                    <a:pt x="0" y="3166745"/>
                    <a:pt x="0" y="3083179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083448" y="2589457"/>
            <a:ext cx="3715788" cy="4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CNN + Generative 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83448" y="3160814"/>
            <a:ext cx="4219423" cy="13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Successful integration of ResNet-18 with Google Gemini for end-to-end plant intelligence.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573000" y="2347912"/>
            <a:ext cx="4759671" cy="2425894"/>
            <a:chOff x="0" y="0"/>
            <a:chExt cx="6346228" cy="32345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46190" cy="3234563"/>
            </a:xfrm>
            <a:custGeom>
              <a:avLst/>
              <a:gdLst/>
              <a:ahLst/>
              <a:cxnLst/>
              <a:rect r="r" b="b" t="t" l="l"/>
              <a:pathLst>
                <a:path h="3234563" w="6346190">
                  <a:moveTo>
                    <a:pt x="0" y="0"/>
                  </a:moveTo>
                  <a:lnTo>
                    <a:pt x="6346190" y="0"/>
                  </a:lnTo>
                  <a:lnTo>
                    <a:pt x="6346190" y="3234563"/>
                  </a:lnTo>
                  <a:lnTo>
                    <a:pt x="0" y="3234563"/>
                  </a:lnTo>
                  <a:close/>
                </a:path>
              </a:pathLst>
            </a:custGeom>
            <a:solidFill>
              <a:srgbClr val="E0D7F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73000" y="2347912"/>
            <a:ext cx="38100" cy="2425894"/>
            <a:chOff x="0" y="0"/>
            <a:chExt cx="50800" cy="32345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" cy="3234563"/>
            </a:xfrm>
            <a:custGeom>
              <a:avLst/>
              <a:gdLst/>
              <a:ahLst/>
              <a:cxnLst/>
              <a:rect r="r" b="b" t="t" l="l"/>
              <a:pathLst>
                <a:path h="323456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209163"/>
                  </a:lnTo>
                  <a:cubicBezTo>
                    <a:pt x="50800" y="3223133"/>
                    <a:pt x="39370" y="3234563"/>
                    <a:pt x="25400" y="3234563"/>
                  </a:cubicBezTo>
                  <a:cubicBezTo>
                    <a:pt x="11430" y="3234563"/>
                    <a:pt x="0" y="3223133"/>
                    <a:pt x="0" y="3209163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43119" y="2589457"/>
            <a:ext cx="3715788" cy="4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Real-World Impact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43119" y="3160814"/>
            <a:ext cx="4219423" cy="13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Scalable solution for agriculture, conservation, education, and botanical research.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13329" y="4773806"/>
            <a:ext cx="9519342" cy="2003669"/>
            <a:chOff x="0" y="0"/>
            <a:chExt cx="12692456" cy="26715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92507" cy="2671572"/>
            </a:xfrm>
            <a:custGeom>
              <a:avLst/>
              <a:gdLst/>
              <a:ahLst/>
              <a:cxnLst/>
              <a:rect r="r" b="b" t="t" l="l"/>
              <a:pathLst>
                <a:path h="2671572" w="12692507">
                  <a:moveTo>
                    <a:pt x="0" y="0"/>
                  </a:moveTo>
                  <a:lnTo>
                    <a:pt x="12692507" y="0"/>
                  </a:lnTo>
                  <a:lnTo>
                    <a:pt x="12692507" y="2671572"/>
                  </a:lnTo>
                  <a:lnTo>
                    <a:pt x="0" y="2671572"/>
                  </a:lnTo>
                  <a:close/>
                </a:path>
              </a:pathLst>
            </a:custGeom>
            <a:solidFill>
              <a:srgbClr val="E0D7F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813329" y="4773806"/>
            <a:ext cx="9519342" cy="38100"/>
            <a:chOff x="0" y="0"/>
            <a:chExt cx="12692456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92507" cy="50800"/>
            </a:xfrm>
            <a:custGeom>
              <a:avLst/>
              <a:gdLst/>
              <a:ahLst/>
              <a:cxnLst/>
              <a:rect r="r" b="b" t="t" l="l"/>
              <a:pathLst>
                <a:path h="50800" w="12692507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667107" y="0"/>
                  </a:lnTo>
                  <a:cubicBezTo>
                    <a:pt x="12681076" y="0"/>
                    <a:pt x="12692507" y="11430"/>
                    <a:pt x="12692507" y="25400"/>
                  </a:cubicBezTo>
                  <a:cubicBezTo>
                    <a:pt x="12692507" y="39370"/>
                    <a:pt x="12681076" y="50800"/>
                    <a:pt x="1266710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083448" y="5015360"/>
            <a:ext cx="3715788" cy="4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Future-Ready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83448" y="5586708"/>
            <a:ext cx="8979094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Extensible architecture supporting Vision Transformers, larger datasets, and offline AI.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03804" y="7116213"/>
            <a:ext cx="9538392" cy="133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Thank You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03804" y="8765381"/>
            <a:ext cx="9538392" cy="49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100" i="true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DAHI9DMiHyU</dc:identifier>
  <dcterms:modified xsi:type="dcterms:W3CDTF">2011-08-01T06:04:30Z</dcterms:modified>
  <cp:revision>1</cp:revision>
</cp:coreProperties>
</file>